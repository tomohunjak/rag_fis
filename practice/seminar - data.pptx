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0" r:id="rId6"/>
    <p:sldId id="259" r:id="rId7"/>
    <p:sldId id="263" r:id="rId8"/>
    <p:sldId id="264" r:id="rId9"/>
    <p:sldId id="265" r:id="rId10"/>
    <p:sldId id="262" r:id="rId11"/>
    <p:sldId id="261" r:id="rId12"/>
    <p:sldId id="266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ACAC8C-D3BB-4FBF-89CB-7BEE4E487159}" v="19" dt="2026-01-08T12:14:35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o Hunjak" userId="dc4fbecb-550c-4c28-8963-64cea043cc4a" providerId="ADAL" clId="{A3A68C93-87D5-426A-AE97-46CA12A688FB}"/>
    <pc:docChg chg="custSel addSld modSld">
      <pc:chgData name="Tomo Hunjak" userId="dc4fbecb-550c-4c28-8963-64cea043cc4a" providerId="ADAL" clId="{A3A68C93-87D5-426A-AE97-46CA12A688FB}" dt="2026-01-08T12:14:41.063" v="2734" actId="1076"/>
      <pc:docMkLst>
        <pc:docMk/>
      </pc:docMkLst>
      <pc:sldChg chg="modSp mod">
        <pc:chgData name="Tomo Hunjak" userId="dc4fbecb-550c-4c28-8963-64cea043cc4a" providerId="ADAL" clId="{A3A68C93-87D5-426A-AE97-46CA12A688FB}" dt="2026-01-06T05:54:16.752" v="2" actId="20577"/>
        <pc:sldMkLst>
          <pc:docMk/>
          <pc:sldMk cId="1462973271" sldId="256"/>
        </pc:sldMkLst>
        <pc:spChg chg="mod">
          <ac:chgData name="Tomo Hunjak" userId="dc4fbecb-550c-4c28-8963-64cea043cc4a" providerId="ADAL" clId="{A3A68C93-87D5-426A-AE97-46CA12A688FB}" dt="2026-01-06T05:54:16.752" v="2" actId="20577"/>
          <ac:spMkLst>
            <pc:docMk/>
            <pc:sldMk cId="1462973271" sldId="256"/>
            <ac:spMk id="2" creationId="{7AE1DDB0-0F72-1AB1-867F-D1BAEB4C987E}"/>
          </ac:spMkLst>
        </pc:spChg>
      </pc:sldChg>
      <pc:sldChg chg="modSp new mod">
        <pc:chgData name="Tomo Hunjak" userId="dc4fbecb-550c-4c28-8963-64cea043cc4a" providerId="ADAL" clId="{A3A68C93-87D5-426A-AE97-46CA12A688FB}" dt="2026-01-06T05:54:31.256" v="23" actId="20577"/>
        <pc:sldMkLst>
          <pc:docMk/>
          <pc:sldMk cId="971360647" sldId="257"/>
        </pc:sldMkLst>
        <pc:spChg chg="mod">
          <ac:chgData name="Tomo Hunjak" userId="dc4fbecb-550c-4c28-8963-64cea043cc4a" providerId="ADAL" clId="{A3A68C93-87D5-426A-AE97-46CA12A688FB}" dt="2026-01-06T05:54:31.256" v="23" actId="20577"/>
          <ac:spMkLst>
            <pc:docMk/>
            <pc:sldMk cId="971360647" sldId="257"/>
            <ac:spMk id="2" creationId="{2E46099C-C15C-0111-5811-F206D40A6B19}"/>
          </ac:spMkLst>
        </pc:spChg>
      </pc:sldChg>
      <pc:sldChg chg="modSp new mod">
        <pc:chgData name="Tomo Hunjak" userId="dc4fbecb-550c-4c28-8963-64cea043cc4a" providerId="ADAL" clId="{A3A68C93-87D5-426A-AE97-46CA12A688FB}" dt="2026-01-07T08:32:29.126" v="2199" actId="20577"/>
        <pc:sldMkLst>
          <pc:docMk/>
          <pc:sldMk cId="3982697471" sldId="258"/>
        </pc:sldMkLst>
        <pc:spChg chg="mod">
          <ac:chgData name="Tomo Hunjak" userId="dc4fbecb-550c-4c28-8963-64cea043cc4a" providerId="ADAL" clId="{A3A68C93-87D5-426A-AE97-46CA12A688FB}" dt="2026-01-06T19:52:49" v="68" actId="20577"/>
          <ac:spMkLst>
            <pc:docMk/>
            <pc:sldMk cId="3982697471" sldId="258"/>
            <ac:spMk id="2" creationId="{E06A5C9F-6BCF-F0CC-3FC8-93A52F6C6B7D}"/>
          </ac:spMkLst>
        </pc:spChg>
        <pc:spChg chg="mod">
          <ac:chgData name="Tomo Hunjak" userId="dc4fbecb-550c-4c28-8963-64cea043cc4a" providerId="ADAL" clId="{A3A68C93-87D5-426A-AE97-46CA12A688FB}" dt="2026-01-07T08:32:29.126" v="2199" actId="20577"/>
          <ac:spMkLst>
            <pc:docMk/>
            <pc:sldMk cId="3982697471" sldId="258"/>
            <ac:spMk id="3" creationId="{51DEDE8D-81B6-D6CE-EF76-A73793332E48}"/>
          </ac:spMkLst>
        </pc:spChg>
      </pc:sldChg>
      <pc:sldChg chg="modSp new mod">
        <pc:chgData name="Tomo Hunjak" userId="dc4fbecb-550c-4c28-8963-64cea043cc4a" providerId="ADAL" clId="{A3A68C93-87D5-426A-AE97-46CA12A688FB}" dt="2026-01-08T10:27:36.256" v="2583" actId="27636"/>
        <pc:sldMkLst>
          <pc:docMk/>
          <pc:sldMk cId="1385662912" sldId="259"/>
        </pc:sldMkLst>
        <pc:spChg chg="mod">
          <ac:chgData name="Tomo Hunjak" userId="dc4fbecb-550c-4c28-8963-64cea043cc4a" providerId="ADAL" clId="{A3A68C93-87D5-426A-AE97-46CA12A688FB}" dt="2026-01-07T18:12:49.288" v="2323" actId="20577"/>
          <ac:spMkLst>
            <pc:docMk/>
            <pc:sldMk cId="1385662912" sldId="259"/>
            <ac:spMk id="2" creationId="{0F764A71-9CD6-38EA-EF9F-DD97477222F2}"/>
          </ac:spMkLst>
        </pc:spChg>
        <pc:spChg chg="mod">
          <ac:chgData name="Tomo Hunjak" userId="dc4fbecb-550c-4c28-8963-64cea043cc4a" providerId="ADAL" clId="{A3A68C93-87D5-426A-AE97-46CA12A688FB}" dt="2026-01-08T10:27:36.256" v="2583" actId="27636"/>
          <ac:spMkLst>
            <pc:docMk/>
            <pc:sldMk cId="1385662912" sldId="259"/>
            <ac:spMk id="3" creationId="{B646B0FA-DC8B-24D0-F4F8-41A6AE6E3F0C}"/>
          </ac:spMkLst>
        </pc:spChg>
      </pc:sldChg>
      <pc:sldChg chg="modSp add mod">
        <pc:chgData name="Tomo Hunjak" userId="dc4fbecb-550c-4c28-8963-64cea043cc4a" providerId="ADAL" clId="{A3A68C93-87D5-426A-AE97-46CA12A688FB}" dt="2026-01-08T10:24:08.133" v="2477" actId="20577"/>
        <pc:sldMkLst>
          <pc:docMk/>
          <pc:sldMk cId="1542497822" sldId="260"/>
        </pc:sldMkLst>
        <pc:spChg chg="mod">
          <ac:chgData name="Tomo Hunjak" userId="dc4fbecb-550c-4c28-8963-64cea043cc4a" providerId="ADAL" clId="{A3A68C93-87D5-426A-AE97-46CA12A688FB}" dt="2026-01-06T20:40:47.316" v="768" actId="20577"/>
          <ac:spMkLst>
            <pc:docMk/>
            <pc:sldMk cId="1542497822" sldId="260"/>
            <ac:spMk id="2" creationId="{3EE6930C-1EB8-1F2E-A84A-C0AEA7468637}"/>
          </ac:spMkLst>
        </pc:spChg>
        <pc:spChg chg="mod">
          <ac:chgData name="Tomo Hunjak" userId="dc4fbecb-550c-4c28-8963-64cea043cc4a" providerId="ADAL" clId="{A3A68C93-87D5-426A-AE97-46CA12A688FB}" dt="2026-01-08T10:24:08.133" v="2477" actId="20577"/>
          <ac:spMkLst>
            <pc:docMk/>
            <pc:sldMk cId="1542497822" sldId="260"/>
            <ac:spMk id="3" creationId="{69B6FD60-C209-A827-9486-00C4C198A131}"/>
          </ac:spMkLst>
        </pc:spChg>
      </pc:sldChg>
      <pc:sldChg chg="modSp add mod">
        <pc:chgData name="Tomo Hunjak" userId="dc4fbecb-550c-4c28-8963-64cea043cc4a" providerId="ADAL" clId="{A3A68C93-87D5-426A-AE97-46CA12A688FB}" dt="2026-01-07T01:33:30.270" v="2135" actId="20577"/>
        <pc:sldMkLst>
          <pc:docMk/>
          <pc:sldMk cId="1488809688" sldId="261"/>
        </pc:sldMkLst>
        <pc:spChg chg="mod">
          <ac:chgData name="Tomo Hunjak" userId="dc4fbecb-550c-4c28-8963-64cea043cc4a" providerId="ADAL" clId="{A3A68C93-87D5-426A-AE97-46CA12A688FB}" dt="2026-01-07T01:33:05.701" v="2025" actId="20577"/>
          <ac:spMkLst>
            <pc:docMk/>
            <pc:sldMk cId="1488809688" sldId="261"/>
            <ac:spMk id="2" creationId="{C0133DE4-E325-5885-38B5-B19671FAA82A}"/>
          </ac:spMkLst>
        </pc:spChg>
        <pc:spChg chg="mod">
          <ac:chgData name="Tomo Hunjak" userId="dc4fbecb-550c-4c28-8963-64cea043cc4a" providerId="ADAL" clId="{A3A68C93-87D5-426A-AE97-46CA12A688FB}" dt="2026-01-07T01:33:30.270" v="2135" actId="20577"/>
          <ac:spMkLst>
            <pc:docMk/>
            <pc:sldMk cId="1488809688" sldId="261"/>
            <ac:spMk id="3" creationId="{63575886-405E-06AD-B2D9-744A957076F6}"/>
          </ac:spMkLst>
        </pc:spChg>
      </pc:sldChg>
      <pc:sldChg chg="modSp new mod">
        <pc:chgData name="Tomo Hunjak" userId="dc4fbecb-550c-4c28-8963-64cea043cc4a" providerId="ADAL" clId="{A3A68C93-87D5-426A-AE97-46CA12A688FB}" dt="2026-01-07T20:51:36.313" v="2475" actId="20577"/>
        <pc:sldMkLst>
          <pc:docMk/>
          <pc:sldMk cId="2798245772" sldId="262"/>
        </pc:sldMkLst>
        <pc:spChg chg="mod">
          <ac:chgData name="Tomo Hunjak" userId="dc4fbecb-550c-4c28-8963-64cea043cc4a" providerId="ADAL" clId="{A3A68C93-87D5-426A-AE97-46CA12A688FB}" dt="2026-01-07T18:13:02.841" v="2379" actId="20577"/>
          <ac:spMkLst>
            <pc:docMk/>
            <pc:sldMk cId="2798245772" sldId="262"/>
            <ac:spMk id="2" creationId="{786BBA0B-BB85-2D03-A02C-75C2F74133E5}"/>
          </ac:spMkLst>
        </pc:spChg>
        <pc:spChg chg="mod">
          <ac:chgData name="Tomo Hunjak" userId="dc4fbecb-550c-4c28-8963-64cea043cc4a" providerId="ADAL" clId="{A3A68C93-87D5-426A-AE97-46CA12A688FB}" dt="2026-01-07T20:51:36.313" v="2475" actId="20577"/>
          <ac:spMkLst>
            <pc:docMk/>
            <pc:sldMk cId="2798245772" sldId="262"/>
            <ac:spMk id="3" creationId="{AE8E116F-CFE4-89F1-6CA9-B632D9EC87B0}"/>
          </ac:spMkLst>
        </pc:spChg>
      </pc:sldChg>
      <pc:sldChg chg="modSp add mod">
        <pc:chgData name="Tomo Hunjak" userId="dc4fbecb-550c-4c28-8963-64cea043cc4a" providerId="ADAL" clId="{A3A68C93-87D5-426A-AE97-46CA12A688FB}" dt="2026-01-08T10:54:40.658" v="2598" actId="27636"/>
        <pc:sldMkLst>
          <pc:docMk/>
          <pc:sldMk cId="3073450228" sldId="263"/>
        </pc:sldMkLst>
        <pc:spChg chg="mod">
          <ac:chgData name="Tomo Hunjak" userId="dc4fbecb-550c-4c28-8963-64cea043cc4a" providerId="ADAL" clId="{A3A68C93-87D5-426A-AE97-46CA12A688FB}" dt="2026-01-08T10:54:40.658" v="2598" actId="27636"/>
          <ac:spMkLst>
            <pc:docMk/>
            <pc:sldMk cId="3073450228" sldId="263"/>
            <ac:spMk id="3" creationId="{CD311492-5E12-E955-FA8F-4489F2A30D68}"/>
          </ac:spMkLst>
        </pc:spChg>
      </pc:sldChg>
      <pc:sldChg chg="addSp delSp modSp new mod">
        <pc:chgData name="Tomo Hunjak" userId="dc4fbecb-550c-4c28-8963-64cea043cc4a" providerId="ADAL" clId="{A3A68C93-87D5-426A-AE97-46CA12A688FB}" dt="2026-01-08T11:58:13.742" v="2635" actId="20577"/>
        <pc:sldMkLst>
          <pc:docMk/>
          <pc:sldMk cId="803371592" sldId="264"/>
        </pc:sldMkLst>
        <pc:spChg chg="del">
          <ac:chgData name="Tomo Hunjak" userId="dc4fbecb-550c-4c28-8963-64cea043cc4a" providerId="ADAL" clId="{A3A68C93-87D5-426A-AE97-46CA12A688FB}" dt="2026-01-08T10:55:49.866" v="2600"/>
          <ac:spMkLst>
            <pc:docMk/>
            <pc:sldMk cId="803371592" sldId="264"/>
            <ac:spMk id="3" creationId="{15A38EFD-6FD3-A8B5-9BF3-402350A2375C}"/>
          </ac:spMkLst>
        </pc:spChg>
        <pc:spChg chg="add mod">
          <ac:chgData name="Tomo Hunjak" userId="dc4fbecb-550c-4c28-8963-64cea043cc4a" providerId="ADAL" clId="{A3A68C93-87D5-426A-AE97-46CA12A688FB}" dt="2026-01-08T11:58:13.742" v="2635" actId="20577"/>
          <ac:spMkLst>
            <pc:docMk/>
            <pc:sldMk cId="803371592" sldId="264"/>
            <ac:spMk id="4" creationId="{2DB32324-7196-BEA3-34F1-00657AA3EC15}"/>
          </ac:spMkLst>
        </pc:spChg>
      </pc:sldChg>
      <pc:sldChg chg="modSp new mod">
        <pc:chgData name="Tomo Hunjak" userId="dc4fbecb-550c-4c28-8963-64cea043cc4a" providerId="ADAL" clId="{A3A68C93-87D5-426A-AE97-46CA12A688FB}" dt="2026-01-08T10:57:37.986" v="2618" actId="20577"/>
        <pc:sldMkLst>
          <pc:docMk/>
          <pc:sldMk cId="2142719999" sldId="265"/>
        </pc:sldMkLst>
        <pc:spChg chg="mod">
          <ac:chgData name="Tomo Hunjak" userId="dc4fbecb-550c-4c28-8963-64cea043cc4a" providerId="ADAL" clId="{A3A68C93-87D5-426A-AE97-46CA12A688FB}" dt="2026-01-08T10:57:37.986" v="2618" actId="20577"/>
          <ac:spMkLst>
            <pc:docMk/>
            <pc:sldMk cId="2142719999" sldId="265"/>
            <ac:spMk id="3" creationId="{84EF8879-CA51-FEEE-64FD-86B8F4BD2D8C}"/>
          </ac:spMkLst>
        </pc:spChg>
      </pc:sldChg>
      <pc:sldChg chg="addSp delSp modSp new mod">
        <pc:chgData name="Tomo Hunjak" userId="dc4fbecb-550c-4c28-8963-64cea043cc4a" providerId="ADAL" clId="{A3A68C93-87D5-426A-AE97-46CA12A688FB}" dt="2026-01-08T12:14:41.063" v="2734" actId="1076"/>
        <pc:sldMkLst>
          <pc:docMk/>
          <pc:sldMk cId="2174063328" sldId="266"/>
        </pc:sldMkLst>
        <pc:spChg chg="mod">
          <ac:chgData name="Tomo Hunjak" userId="dc4fbecb-550c-4c28-8963-64cea043cc4a" providerId="ADAL" clId="{A3A68C93-87D5-426A-AE97-46CA12A688FB}" dt="2026-01-08T12:03:47.633" v="2664" actId="20577"/>
          <ac:spMkLst>
            <pc:docMk/>
            <pc:sldMk cId="2174063328" sldId="266"/>
            <ac:spMk id="2" creationId="{7EA482DB-5657-8E83-6878-6E7A4B6A27E2}"/>
          </ac:spMkLst>
        </pc:spChg>
        <pc:spChg chg="add del mod">
          <ac:chgData name="Tomo Hunjak" userId="dc4fbecb-550c-4c28-8963-64cea043cc4a" providerId="ADAL" clId="{A3A68C93-87D5-426A-AE97-46CA12A688FB}" dt="2026-01-08T12:14:22.492" v="2731"/>
          <ac:spMkLst>
            <pc:docMk/>
            <pc:sldMk cId="2174063328" sldId="266"/>
            <ac:spMk id="3" creationId="{455AAE11-9431-8D88-1C9C-3366A80F8B25}"/>
          </ac:spMkLst>
        </pc:spChg>
        <pc:spChg chg="add mod">
          <ac:chgData name="Tomo Hunjak" userId="dc4fbecb-550c-4c28-8963-64cea043cc4a" providerId="ADAL" clId="{A3A68C93-87D5-426A-AE97-46CA12A688FB}" dt="2026-01-08T12:03:55.903" v="2666"/>
          <ac:spMkLst>
            <pc:docMk/>
            <pc:sldMk cId="2174063328" sldId="266"/>
            <ac:spMk id="5" creationId="{38F4C95C-3512-48C9-0F5E-A9992544764B}"/>
          </ac:spMkLst>
        </pc:spChg>
        <pc:spChg chg="add mod">
          <ac:chgData name="Tomo Hunjak" userId="dc4fbecb-550c-4c28-8963-64cea043cc4a" providerId="ADAL" clId="{A3A68C93-87D5-426A-AE97-46CA12A688FB}" dt="2026-01-08T12:03:55.903" v="2666"/>
          <ac:spMkLst>
            <pc:docMk/>
            <pc:sldMk cId="2174063328" sldId="266"/>
            <ac:spMk id="7" creationId="{B711E346-CBF7-4F32-341F-8D9B3BF107BD}"/>
          </ac:spMkLst>
        </pc:spChg>
        <pc:spChg chg="add mod">
          <ac:chgData name="Tomo Hunjak" userId="dc4fbecb-550c-4c28-8963-64cea043cc4a" providerId="ADAL" clId="{A3A68C93-87D5-426A-AE97-46CA12A688FB}" dt="2026-01-08T12:03:55.903" v="2666"/>
          <ac:spMkLst>
            <pc:docMk/>
            <pc:sldMk cId="2174063328" sldId="266"/>
            <ac:spMk id="9" creationId="{81E9C2FD-5140-CAB2-1EBC-5143C7EE6E95}"/>
          </ac:spMkLst>
        </pc:spChg>
        <pc:spChg chg="add mod">
          <ac:chgData name="Tomo Hunjak" userId="dc4fbecb-550c-4c28-8963-64cea043cc4a" providerId="ADAL" clId="{A3A68C93-87D5-426A-AE97-46CA12A688FB}" dt="2026-01-08T12:03:55.903" v="2666"/>
          <ac:spMkLst>
            <pc:docMk/>
            <pc:sldMk cId="2174063328" sldId="266"/>
            <ac:spMk id="10" creationId="{3B8014F1-1D61-41F4-759C-DDCC77754CA1}"/>
          </ac:spMkLst>
        </pc:spChg>
        <pc:spChg chg="add mod">
          <ac:chgData name="Tomo Hunjak" userId="dc4fbecb-550c-4c28-8963-64cea043cc4a" providerId="ADAL" clId="{A3A68C93-87D5-426A-AE97-46CA12A688FB}" dt="2026-01-08T12:03:55.903" v="2666"/>
          <ac:spMkLst>
            <pc:docMk/>
            <pc:sldMk cId="2174063328" sldId="266"/>
            <ac:spMk id="11" creationId="{8B92D86B-23F3-3E4E-4A09-9A5DD894CB21}"/>
          </ac:spMkLst>
        </pc:spChg>
        <pc:spChg chg="add mod">
          <ac:chgData name="Tomo Hunjak" userId="dc4fbecb-550c-4c28-8963-64cea043cc4a" providerId="ADAL" clId="{A3A68C93-87D5-426A-AE97-46CA12A688FB}" dt="2026-01-08T12:03:55.903" v="2666"/>
          <ac:spMkLst>
            <pc:docMk/>
            <pc:sldMk cId="2174063328" sldId="266"/>
            <ac:spMk id="13" creationId="{5132DCC7-944A-1F12-963C-27C600F930C6}"/>
          </ac:spMkLst>
        </pc:spChg>
        <pc:spChg chg="add mod">
          <ac:chgData name="Tomo Hunjak" userId="dc4fbecb-550c-4c28-8963-64cea043cc4a" providerId="ADAL" clId="{A3A68C93-87D5-426A-AE97-46CA12A688FB}" dt="2026-01-08T12:03:55.903" v="2666"/>
          <ac:spMkLst>
            <pc:docMk/>
            <pc:sldMk cId="2174063328" sldId="266"/>
            <ac:spMk id="14" creationId="{ECD06578-DF45-EFB8-42D0-3D420CCCBF15}"/>
          </ac:spMkLst>
        </pc:spChg>
        <pc:spChg chg="add mod">
          <ac:chgData name="Tomo Hunjak" userId="dc4fbecb-550c-4c28-8963-64cea043cc4a" providerId="ADAL" clId="{A3A68C93-87D5-426A-AE97-46CA12A688FB}" dt="2026-01-08T12:03:55.903" v="2666"/>
          <ac:spMkLst>
            <pc:docMk/>
            <pc:sldMk cId="2174063328" sldId="266"/>
            <ac:spMk id="15" creationId="{4056385C-A42E-5B14-70D5-8D5D2D66F136}"/>
          </ac:spMkLst>
        </pc:spChg>
        <pc:spChg chg="add mod">
          <ac:chgData name="Tomo Hunjak" userId="dc4fbecb-550c-4c28-8963-64cea043cc4a" providerId="ADAL" clId="{A3A68C93-87D5-426A-AE97-46CA12A688FB}" dt="2026-01-08T12:03:55.903" v="2666"/>
          <ac:spMkLst>
            <pc:docMk/>
            <pc:sldMk cId="2174063328" sldId="266"/>
            <ac:spMk id="17" creationId="{53653568-AAAC-1DC8-6800-E2AD72123910}"/>
          </ac:spMkLst>
        </pc:spChg>
        <pc:spChg chg="add mod">
          <ac:chgData name="Tomo Hunjak" userId="dc4fbecb-550c-4c28-8963-64cea043cc4a" providerId="ADAL" clId="{A3A68C93-87D5-426A-AE97-46CA12A688FB}" dt="2026-01-08T12:04:39.042" v="2669"/>
          <ac:spMkLst>
            <pc:docMk/>
            <pc:sldMk cId="2174063328" sldId="266"/>
            <ac:spMk id="19" creationId="{C632BB7B-0392-FFBD-985A-4E7E7CFC69DD}"/>
          </ac:spMkLst>
        </pc:spChg>
        <pc:spChg chg="add mod">
          <ac:chgData name="Tomo Hunjak" userId="dc4fbecb-550c-4c28-8963-64cea043cc4a" providerId="ADAL" clId="{A3A68C93-87D5-426A-AE97-46CA12A688FB}" dt="2026-01-08T12:04:39.042" v="2669"/>
          <ac:spMkLst>
            <pc:docMk/>
            <pc:sldMk cId="2174063328" sldId="266"/>
            <ac:spMk id="20" creationId="{E20A27B9-533B-6D99-3CF6-4F5A84A744B0}"/>
          </ac:spMkLst>
        </pc:spChg>
        <pc:spChg chg="add mod">
          <ac:chgData name="Tomo Hunjak" userId="dc4fbecb-550c-4c28-8963-64cea043cc4a" providerId="ADAL" clId="{A3A68C93-87D5-426A-AE97-46CA12A688FB}" dt="2026-01-08T12:04:39.042" v="2669"/>
          <ac:spMkLst>
            <pc:docMk/>
            <pc:sldMk cId="2174063328" sldId="266"/>
            <ac:spMk id="21" creationId="{AAD0A60B-8CF5-C41D-0DFD-1DC3C0E08885}"/>
          </ac:spMkLst>
        </pc:spChg>
        <pc:spChg chg="add mod">
          <ac:chgData name="Tomo Hunjak" userId="dc4fbecb-550c-4c28-8963-64cea043cc4a" providerId="ADAL" clId="{A3A68C93-87D5-426A-AE97-46CA12A688FB}" dt="2026-01-08T12:04:39.042" v="2669"/>
          <ac:spMkLst>
            <pc:docMk/>
            <pc:sldMk cId="2174063328" sldId="266"/>
            <ac:spMk id="22" creationId="{39D3080D-7627-4692-B6C1-56E90F83A1A4}"/>
          </ac:spMkLst>
        </pc:spChg>
        <pc:spChg chg="add mod">
          <ac:chgData name="Tomo Hunjak" userId="dc4fbecb-550c-4c28-8963-64cea043cc4a" providerId="ADAL" clId="{A3A68C93-87D5-426A-AE97-46CA12A688FB}" dt="2026-01-08T12:04:39.042" v="2669"/>
          <ac:spMkLst>
            <pc:docMk/>
            <pc:sldMk cId="2174063328" sldId="266"/>
            <ac:spMk id="23" creationId="{7CF372AF-F347-57D6-B883-83BD49E74BA8}"/>
          </ac:spMkLst>
        </pc:spChg>
        <pc:spChg chg="add mod">
          <ac:chgData name="Tomo Hunjak" userId="dc4fbecb-550c-4c28-8963-64cea043cc4a" providerId="ADAL" clId="{A3A68C93-87D5-426A-AE97-46CA12A688FB}" dt="2026-01-08T12:04:39.042" v="2669"/>
          <ac:spMkLst>
            <pc:docMk/>
            <pc:sldMk cId="2174063328" sldId="266"/>
            <ac:spMk id="24" creationId="{6DAF31C9-87A7-EDCD-E669-E6DE475F751B}"/>
          </ac:spMkLst>
        </pc:spChg>
        <pc:spChg chg="add mod">
          <ac:chgData name="Tomo Hunjak" userId="dc4fbecb-550c-4c28-8963-64cea043cc4a" providerId="ADAL" clId="{A3A68C93-87D5-426A-AE97-46CA12A688FB}" dt="2026-01-08T12:04:39.042" v="2669"/>
          <ac:spMkLst>
            <pc:docMk/>
            <pc:sldMk cId="2174063328" sldId="266"/>
            <ac:spMk id="28" creationId="{E9768F8C-9FFC-6303-EEFA-2841A494DE1A}"/>
          </ac:spMkLst>
        </pc:spChg>
        <pc:spChg chg="add mod">
          <ac:chgData name="Tomo Hunjak" userId="dc4fbecb-550c-4c28-8963-64cea043cc4a" providerId="ADAL" clId="{A3A68C93-87D5-426A-AE97-46CA12A688FB}" dt="2026-01-08T12:04:39.042" v="2669"/>
          <ac:spMkLst>
            <pc:docMk/>
            <pc:sldMk cId="2174063328" sldId="266"/>
            <ac:spMk id="30" creationId="{6C5D6D66-D136-5C13-0C0E-E0B7C8B2C887}"/>
          </ac:spMkLst>
        </pc:spChg>
        <pc:spChg chg="add mod">
          <ac:chgData name="Tomo Hunjak" userId="dc4fbecb-550c-4c28-8963-64cea043cc4a" providerId="ADAL" clId="{A3A68C93-87D5-426A-AE97-46CA12A688FB}" dt="2026-01-08T12:04:39.042" v="2669"/>
          <ac:spMkLst>
            <pc:docMk/>
            <pc:sldMk cId="2174063328" sldId="266"/>
            <ac:spMk id="31" creationId="{DD27420C-89E6-6E9C-33B6-85F8D57A01A8}"/>
          </ac:spMkLst>
        </pc:spChg>
        <pc:spChg chg="add mod">
          <ac:chgData name="Tomo Hunjak" userId="dc4fbecb-550c-4c28-8963-64cea043cc4a" providerId="ADAL" clId="{A3A68C93-87D5-426A-AE97-46CA12A688FB}" dt="2026-01-08T12:14:41.063" v="2734" actId="1076"/>
          <ac:spMkLst>
            <pc:docMk/>
            <pc:sldMk cId="2174063328" sldId="266"/>
            <ac:spMk id="33" creationId="{693EE129-CF30-FB9D-B0D2-32D88DAAF4A2}"/>
          </ac:spMkLst>
        </pc:spChg>
        <pc:graphicFrameChg chg="add mod">
          <ac:chgData name="Tomo Hunjak" userId="dc4fbecb-550c-4c28-8963-64cea043cc4a" providerId="ADAL" clId="{A3A68C93-87D5-426A-AE97-46CA12A688FB}" dt="2026-01-08T12:09:45.044" v="2730"/>
          <ac:graphicFrameMkLst>
            <pc:docMk/>
            <pc:sldMk cId="2174063328" sldId="266"/>
            <ac:graphicFrameMk id="32" creationId="{A9D9D04C-0BA3-788F-6CF6-7DE8E3EE4CB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E6D2751-ED50-3267-0BD0-E8D687BCE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6289BA27-F938-001E-6026-FA35F16E7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25D11952-CBFD-B231-4282-36E42F8C5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A06E-7734-448B-995B-D34C9BC49545}" type="datetimeFigureOut">
              <a:rPr lang="hr-HR" smtClean="0"/>
              <a:t>14.1.2026.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30680C2B-6911-B3C9-9677-72513D679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F78D418C-8E95-CC93-9581-690290E4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6A93-1337-459F-AB9D-D0A29D46FA3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6763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934B69E-D4B8-C269-AC93-1F49C0A14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1ED00423-C818-234B-6852-741981353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33D059D-EC19-DFC9-E1B0-851DD8C68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A06E-7734-448B-995B-D34C9BC49545}" type="datetimeFigureOut">
              <a:rPr lang="hr-HR" smtClean="0"/>
              <a:t>14.1.2026.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A7EBBAA7-0C82-7615-9B26-E5240C814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BC5C854F-DA07-7931-C30A-DB268E7C4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6A93-1337-459F-AB9D-D0A29D46FA3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4459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85A2B92-88E6-8BE3-8D7B-11AD14D60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1B8446C8-778C-A939-D2FE-5B09EEC20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22450F1A-2B0C-BC26-2220-680DA66A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A06E-7734-448B-995B-D34C9BC49545}" type="datetimeFigureOut">
              <a:rPr lang="hr-HR" smtClean="0"/>
              <a:t>14.1.2026.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C1B716FB-A9D7-AD0E-F589-63B867536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502CDC7E-55BA-4ECD-155E-F4F511C22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6A93-1337-459F-AB9D-D0A29D46FA3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00500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4B424C9-04AE-1669-52E5-4EC8CBD37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BF7691FD-BEB6-AC38-DE02-9D2D76308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4A3318AA-7D3B-79F6-0C19-5563B14B6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1D9400DF-CB9E-28F9-E99B-A6BE953B2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A06E-7734-448B-995B-D34C9BC49545}" type="datetimeFigureOut">
              <a:rPr lang="hr-HR" smtClean="0"/>
              <a:t>14.1.2026.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ED6B6724-B9A8-D6A8-1236-71277CE78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6CBC447A-56CC-B0CC-7F16-141A457F0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6A93-1337-459F-AB9D-D0A29D46FA3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15330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9ED5277-EFC4-D7B3-2841-78F6953D0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BD4824F8-B5EB-D289-27EB-8291A4EC2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3A53EDE0-97D1-7CD8-AE86-5AE68FA3D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teksta 4">
            <a:extLst>
              <a:ext uri="{FF2B5EF4-FFF2-40B4-BE49-F238E27FC236}">
                <a16:creationId xmlns:a16="http://schemas.microsoft.com/office/drawing/2014/main" id="{646352EA-97F6-507E-9323-1A9D0F393D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F3CE294F-26BA-3560-B392-80B9384619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7" name="Rezervirano mjesto datuma 6">
            <a:extLst>
              <a:ext uri="{FF2B5EF4-FFF2-40B4-BE49-F238E27FC236}">
                <a16:creationId xmlns:a16="http://schemas.microsoft.com/office/drawing/2014/main" id="{60A62938-1E9A-45C0-E9A2-586EE313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A06E-7734-448B-995B-D34C9BC49545}" type="datetimeFigureOut">
              <a:rPr lang="hr-HR" smtClean="0"/>
              <a:t>14.1.2026.</a:t>
            </a:fld>
            <a:endParaRPr lang="hr-HR"/>
          </a:p>
        </p:txBody>
      </p:sp>
      <p:sp>
        <p:nvSpPr>
          <p:cNvPr id="8" name="Rezervirano mjesto podnožja 7">
            <a:extLst>
              <a:ext uri="{FF2B5EF4-FFF2-40B4-BE49-F238E27FC236}">
                <a16:creationId xmlns:a16="http://schemas.microsoft.com/office/drawing/2014/main" id="{55BC7713-3AFB-51BC-580B-07A6D9F05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>
            <a:extLst>
              <a:ext uri="{FF2B5EF4-FFF2-40B4-BE49-F238E27FC236}">
                <a16:creationId xmlns:a16="http://schemas.microsoft.com/office/drawing/2014/main" id="{0A3B8C35-0E39-30F1-5ED6-8B444698B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6A93-1337-459F-AB9D-D0A29D46FA3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9260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0E218AD-C1BB-D888-2904-F2A76F794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FD02A452-F98A-D8F0-D57D-5AF58438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A06E-7734-448B-995B-D34C9BC49545}" type="datetimeFigureOut">
              <a:rPr lang="hr-HR" smtClean="0"/>
              <a:t>14.1.2026.</a:t>
            </a:fld>
            <a:endParaRPr lang="hr-HR"/>
          </a:p>
        </p:txBody>
      </p:sp>
      <p:sp>
        <p:nvSpPr>
          <p:cNvPr id="4" name="Rezervirano mjesto podnožja 3">
            <a:extLst>
              <a:ext uri="{FF2B5EF4-FFF2-40B4-BE49-F238E27FC236}">
                <a16:creationId xmlns:a16="http://schemas.microsoft.com/office/drawing/2014/main" id="{76B8E0F7-7939-B5DD-9A80-1EC45675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CE0A1C39-8BDF-1553-1BE8-EECF5719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6A93-1337-459F-AB9D-D0A29D46FA3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7976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>
            <a:extLst>
              <a:ext uri="{FF2B5EF4-FFF2-40B4-BE49-F238E27FC236}">
                <a16:creationId xmlns:a16="http://schemas.microsoft.com/office/drawing/2014/main" id="{DDEAEC05-3CF4-0571-B250-E0CF294DC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A06E-7734-448B-995B-D34C9BC49545}" type="datetimeFigureOut">
              <a:rPr lang="hr-HR" smtClean="0"/>
              <a:t>14.1.2026.</a:t>
            </a:fld>
            <a:endParaRPr lang="hr-HR"/>
          </a:p>
        </p:txBody>
      </p:sp>
      <p:sp>
        <p:nvSpPr>
          <p:cNvPr id="3" name="Rezervirano mjesto podnožja 2">
            <a:extLst>
              <a:ext uri="{FF2B5EF4-FFF2-40B4-BE49-F238E27FC236}">
                <a16:creationId xmlns:a16="http://schemas.microsoft.com/office/drawing/2014/main" id="{24AD516D-AE81-49A4-E080-1C4D7E314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ADF44945-2547-F91E-0456-BB591DE7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6A93-1337-459F-AB9D-D0A29D46FA3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79509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9BDD4C4-E45B-B419-AC2F-F95BCEDEA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41BF14A-FD4D-E34D-49E1-5D50E2A7E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44463B05-35D3-8444-9D5C-9CA000EE6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7ACC3050-6093-0A76-A748-A225ADF9D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A06E-7734-448B-995B-D34C9BC49545}" type="datetimeFigureOut">
              <a:rPr lang="hr-HR" smtClean="0"/>
              <a:t>14.1.2026.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9CAC7E4B-43D7-ED3E-E720-B823D4A6D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9035E17E-FB07-2FFF-0359-4C67FC42B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6A93-1337-459F-AB9D-D0A29D46FA3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34221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92D12ED-5A52-216C-80D5-B3E1C5300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like 2">
            <a:extLst>
              <a:ext uri="{FF2B5EF4-FFF2-40B4-BE49-F238E27FC236}">
                <a16:creationId xmlns:a16="http://schemas.microsoft.com/office/drawing/2014/main" id="{FEE2D07B-5CBA-16D6-3C3A-49C971FB5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C2BFD18D-E656-BF82-3F16-913092D8C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437ABCAF-154C-1C84-2E1A-1380BBCDD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A06E-7734-448B-995B-D34C9BC49545}" type="datetimeFigureOut">
              <a:rPr lang="hr-HR" smtClean="0"/>
              <a:t>14.1.2026.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1E3BAF6B-80FF-4898-BAE2-19AF77BB0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7F854F64-8A14-6E6C-5E4C-7EC8933E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6A93-1337-459F-AB9D-D0A29D46FA3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56991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D8E70BB-12FB-F37E-7E54-D0E41A38D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6863DA05-9DBE-2622-215F-87EEFC9A9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17F572AA-A65E-BD5B-5815-AD1FBE57C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A06E-7734-448B-995B-D34C9BC49545}" type="datetimeFigureOut">
              <a:rPr lang="hr-HR" smtClean="0"/>
              <a:t>14.1.2026.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CA23DEE3-56B5-07EE-7EFA-896B02CC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A21A4CEB-0995-9A20-0173-97E5FCC9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6A93-1337-459F-AB9D-D0A29D46FA3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843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>
            <a:extLst>
              <a:ext uri="{FF2B5EF4-FFF2-40B4-BE49-F238E27FC236}">
                <a16:creationId xmlns:a16="http://schemas.microsoft.com/office/drawing/2014/main" id="{86BB6FDA-70C1-E06F-500A-CD8DAF817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3BB0052C-A9B2-3637-BB98-71F0659B6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7BB9F3E2-4263-36A5-55B3-2B56E5D0F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A06E-7734-448B-995B-D34C9BC49545}" type="datetimeFigureOut">
              <a:rPr lang="hr-HR" smtClean="0"/>
              <a:t>14.1.2026.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0CA894AB-04D3-2914-DA34-8954D9D92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90D7F70A-6A8F-C41F-FE6F-2B188E579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6A93-1337-459F-AB9D-D0A29D46FA3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02266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1775C2E7-DD5D-5A3B-4547-5E610D805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E550479E-2B1C-E566-6989-6254A513B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76133B2E-E938-25F4-C00B-A2CFED7A5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2A06E-7734-448B-995B-D34C9BC49545}" type="datetimeFigureOut">
              <a:rPr lang="hr-HR" smtClean="0"/>
              <a:t>14.1.2026.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45B92F56-9561-BE6D-3E12-8255BC9BD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1826A432-AD08-F51D-A8D6-0121139FD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B6A93-1337-459F-AB9D-D0A29D46FA3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6095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AE1DDB0-0F72-1AB1-867F-D1BAEB4C98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RAG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A813F8B2-4E1E-78E9-F296-74640F2654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62973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E46099C-C15C-0111-5811-F206D40A6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Research </a:t>
            </a:r>
            <a:r>
              <a:rPr lang="hr-HR" dirty="0" err="1"/>
              <a:t>Question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B76E77B-6674-C55A-B3D7-86FD350EE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r-HR" dirty="0"/>
              <a:t>Title: </a:t>
            </a:r>
            <a:r>
              <a:rPr lang="en-US" dirty="0"/>
              <a:t>Literature-Grounded Retrieval-Augmented Generation for Thematic Synthesis in Academic Research</a:t>
            </a:r>
            <a:endParaRPr lang="hr-HR" dirty="0"/>
          </a:p>
          <a:p>
            <a:r>
              <a:rPr lang="hr-HR" dirty="0"/>
              <a:t>(</a:t>
            </a:r>
            <a:r>
              <a:rPr lang="hr-HR"/>
              <a:t>RQ:) </a:t>
            </a:r>
            <a:r>
              <a:rPr lang="en-US"/>
              <a:t>How </a:t>
            </a:r>
            <a:r>
              <a:rPr lang="en-US" dirty="0"/>
              <a:t>effectively does a literature-grounded RAG pipeline assist in synthesizing themes across an academic corpus in response to conceptual research questions?</a:t>
            </a:r>
            <a:endParaRPr lang="hr-HR" dirty="0"/>
          </a:p>
          <a:p>
            <a:endParaRPr lang="hr-HR" dirty="0"/>
          </a:p>
          <a:p>
            <a:r>
              <a:rPr lang="en-US" dirty="0"/>
              <a:t>This study investigates the ability of a retrieval-augmented generation (RAG) system, grounded in a systematically curated literature corpus, to support thematic synthesis for research-oriented questions. While the evaluation is demonstrated using a specific case-study domain, the research question and evaluation framework are designed to be applicable across different research topics and keyword sets.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71360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06A5C9F-6BCF-F0CC-3FC8-93A52F6C6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Systematic</a:t>
            </a:r>
            <a:r>
              <a:rPr lang="hr-HR" dirty="0"/>
              <a:t> </a:t>
            </a:r>
            <a:r>
              <a:rPr lang="hr-HR" dirty="0" err="1"/>
              <a:t>search</a:t>
            </a:r>
            <a:r>
              <a:rPr lang="hr-HR" dirty="0"/>
              <a:t> + download (</a:t>
            </a:r>
            <a:r>
              <a:rPr lang="hr-HR" dirty="0" err="1"/>
              <a:t>yt</a:t>
            </a:r>
            <a:r>
              <a:rPr lang="hr-HR" dirty="0"/>
              <a:t> video)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1DEDE8D-81B6-D6CE-EF76-A73793332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r-HR" dirty="0" err="1"/>
              <a:t>Keywords</a:t>
            </a:r>
            <a:r>
              <a:rPr lang="hr-HR" dirty="0"/>
              <a:t> </a:t>
            </a:r>
            <a:r>
              <a:rPr lang="hr-HR" dirty="0" err="1"/>
              <a:t>selection</a:t>
            </a:r>
            <a:r>
              <a:rPr lang="hr-HR" dirty="0"/>
              <a:t> – </a:t>
            </a:r>
            <a:r>
              <a:rPr lang="hr-HR" dirty="0" err="1"/>
              <a:t>why</a:t>
            </a:r>
            <a:r>
              <a:rPr lang="hr-HR" dirty="0"/>
              <a:t>?</a:t>
            </a:r>
          </a:p>
          <a:p>
            <a:pPr lvl="1"/>
            <a:r>
              <a:rPr lang="hr-HR" dirty="0" err="1"/>
              <a:t>Supply</a:t>
            </a:r>
            <a:r>
              <a:rPr lang="hr-HR" dirty="0"/>
              <a:t> </a:t>
            </a:r>
            <a:r>
              <a:rPr lang="hr-HR" dirty="0" err="1"/>
              <a:t>chain</a:t>
            </a:r>
            <a:endParaRPr lang="hr-HR" dirty="0"/>
          </a:p>
          <a:p>
            <a:pPr lvl="1"/>
            <a:r>
              <a:rPr lang="hr-HR" dirty="0"/>
              <a:t>Network</a:t>
            </a:r>
          </a:p>
          <a:p>
            <a:pPr lvl="1"/>
            <a:r>
              <a:rPr lang="hr-HR" dirty="0"/>
              <a:t>Data	(</a:t>
            </a:r>
            <a:r>
              <a:rPr lang="hr-HR" dirty="0" err="1"/>
              <a:t>helps</a:t>
            </a:r>
            <a:r>
              <a:rPr lang="hr-HR" dirty="0"/>
              <a:t> </a:t>
            </a:r>
            <a:r>
              <a:rPr lang="hr-HR" dirty="0" err="1"/>
              <a:t>with</a:t>
            </a:r>
            <a:r>
              <a:rPr lang="hr-HR" dirty="0"/>
              <a:t> </a:t>
            </a:r>
            <a:r>
              <a:rPr lang="hr-HR" dirty="0" err="1"/>
              <a:t>contextualization</a:t>
            </a:r>
            <a:r>
              <a:rPr lang="hr-HR" dirty="0"/>
              <a:t>, </a:t>
            </a:r>
            <a:r>
              <a:rPr lang="hr-HR" dirty="0" err="1"/>
              <a:t>afterthought</a:t>
            </a:r>
            <a:r>
              <a:rPr lang="hr-HR" dirty="0"/>
              <a:t> </a:t>
            </a:r>
            <a:r>
              <a:rPr lang="hr-HR" dirty="0" err="1"/>
              <a:t>because</a:t>
            </a:r>
            <a:r>
              <a:rPr lang="hr-HR" dirty="0"/>
              <a:t> SC </a:t>
            </a:r>
            <a:r>
              <a:rPr lang="hr-HR" dirty="0" err="1"/>
              <a:t>universality</a:t>
            </a:r>
            <a:r>
              <a:rPr lang="hr-HR" dirty="0"/>
              <a:t>)</a:t>
            </a:r>
          </a:p>
          <a:p>
            <a:pPr lvl="1"/>
            <a:r>
              <a:rPr lang="hr-HR" dirty="0" err="1"/>
              <a:t>Risk</a:t>
            </a:r>
            <a:endParaRPr lang="hr-HR" dirty="0"/>
          </a:p>
          <a:p>
            <a:pPr lvl="2"/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bad</a:t>
            </a:r>
            <a:r>
              <a:rPr lang="hr-HR" dirty="0"/>
              <a:t> </a:t>
            </a:r>
            <a:r>
              <a:rPr lang="hr-HR" dirty="0" err="1"/>
              <a:t>things</a:t>
            </a:r>
            <a:r>
              <a:rPr lang="hr-HR" dirty="0"/>
              <a:t> </a:t>
            </a:r>
            <a:r>
              <a:rPr lang="hr-HR" dirty="0" err="1"/>
              <a:t>could</a:t>
            </a:r>
            <a:r>
              <a:rPr lang="hr-HR" dirty="0"/>
              <a:t> </a:t>
            </a:r>
            <a:r>
              <a:rPr lang="hr-HR" dirty="0" err="1"/>
              <a:t>happen</a:t>
            </a:r>
            <a:r>
              <a:rPr lang="hr-HR" dirty="0"/>
              <a:t>?</a:t>
            </a:r>
          </a:p>
          <a:p>
            <a:pPr lvl="1"/>
            <a:r>
              <a:rPr lang="hr-HR" dirty="0" err="1"/>
              <a:t>Resilien</a:t>
            </a:r>
            <a:r>
              <a:rPr lang="hr-HR" dirty="0"/>
              <a:t>*	(</a:t>
            </a:r>
            <a:r>
              <a:rPr lang="hr-HR" dirty="0" err="1"/>
              <a:t>why</a:t>
            </a:r>
            <a:r>
              <a:rPr lang="hr-HR" dirty="0"/>
              <a:t>?)</a:t>
            </a:r>
          </a:p>
          <a:p>
            <a:pPr lvl="2"/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happens</a:t>
            </a:r>
            <a:r>
              <a:rPr lang="hr-HR" dirty="0"/>
              <a:t> </a:t>
            </a:r>
            <a:r>
              <a:rPr lang="hr-HR" dirty="0" err="1"/>
              <a:t>when</a:t>
            </a:r>
            <a:r>
              <a:rPr lang="hr-HR" dirty="0"/>
              <a:t> </a:t>
            </a:r>
            <a:r>
              <a:rPr lang="hr-HR" dirty="0" err="1"/>
              <a:t>bad</a:t>
            </a:r>
            <a:r>
              <a:rPr lang="hr-HR" dirty="0"/>
              <a:t> </a:t>
            </a:r>
            <a:r>
              <a:rPr lang="hr-HR" dirty="0" err="1"/>
              <a:t>things</a:t>
            </a:r>
            <a:r>
              <a:rPr lang="hr-HR" dirty="0"/>
              <a:t> </a:t>
            </a:r>
            <a:r>
              <a:rPr lang="hr-HR" dirty="0" err="1"/>
              <a:t>happen</a:t>
            </a:r>
            <a:r>
              <a:rPr lang="hr-HR" dirty="0"/>
              <a:t>?</a:t>
            </a:r>
          </a:p>
          <a:p>
            <a:pPr lvl="1"/>
            <a:r>
              <a:rPr lang="hr-HR" dirty="0" err="1"/>
              <a:t>Operators</a:t>
            </a:r>
            <a:r>
              <a:rPr lang="hr-HR" dirty="0"/>
              <a:t>: </a:t>
            </a:r>
            <a:r>
              <a:rPr lang="hr-HR" dirty="0" err="1"/>
              <a:t>all</a:t>
            </a:r>
            <a:r>
              <a:rPr lang="hr-HR" dirty="0"/>
              <a:t> „AND”</a:t>
            </a:r>
          </a:p>
          <a:p>
            <a:r>
              <a:rPr lang="hr-HR" dirty="0" err="1"/>
              <a:t>Result</a:t>
            </a:r>
            <a:r>
              <a:rPr lang="hr-HR" dirty="0"/>
              <a:t>: </a:t>
            </a:r>
            <a:r>
              <a:rPr lang="hr-HR" strike="sngStrike" dirty="0"/>
              <a:t>1221</a:t>
            </a:r>
            <a:r>
              <a:rPr lang="hr-HR" dirty="0"/>
              <a:t> 426 </a:t>
            </a:r>
            <a:r>
              <a:rPr lang="hr-HR" dirty="0" err="1"/>
              <a:t>papers</a:t>
            </a:r>
            <a:r>
              <a:rPr lang="hr-HR" dirty="0"/>
              <a:t> (</a:t>
            </a:r>
            <a:r>
              <a:rPr lang="hr-HR" dirty="0" err="1"/>
              <a:t>with</a:t>
            </a:r>
            <a:r>
              <a:rPr lang="hr-HR" dirty="0"/>
              <a:t> </a:t>
            </a:r>
            <a:r>
              <a:rPr lang="hr-HR" i="1" dirty="0"/>
              <a:t>data</a:t>
            </a:r>
            <a:r>
              <a:rPr lang="hr-HR" dirty="0"/>
              <a:t> </a:t>
            </a:r>
            <a:r>
              <a:rPr lang="hr-HR" dirty="0" err="1"/>
              <a:t>keyword</a:t>
            </a:r>
            <a:r>
              <a:rPr lang="hr-HR" dirty="0"/>
              <a:t>)</a:t>
            </a:r>
          </a:p>
          <a:p>
            <a:r>
              <a:rPr lang="hr-HR" dirty="0" err="1"/>
              <a:t>Filters</a:t>
            </a:r>
            <a:endParaRPr lang="hr-HR" dirty="0"/>
          </a:p>
          <a:p>
            <a:pPr lvl="1"/>
            <a:r>
              <a:rPr lang="hr-HR" dirty="0" err="1"/>
              <a:t>Subject</a:t>
            </a:r>
            <a:r>
              <a:rPr lang="hr-HR" dirty="0"/>
              <a:t> </a:t>
            </a:r>
            <a:r>
              <a:rPr lang="hr-HR" dirty="0" err="1"/>
              <a:t>area</a:t>
            </a:r>
            <a:r>
              <a:rPr lang="hr-HR" dirty="0"/>
              <a:t> – </a:t>
            </a:r>
            <a:r>
              <a:rPr lang="hr-HR" dirty="0" err="1"/>
              <a:t>initial</a:t>
            </a:r>
            <a:r>
              <a:rPr lang="hr-HR" dirty="0"/>
              <a:t> </a:t>
            </a:r>
            <a:r>
              <a:rPr lang="hr-HR" dirty="0" err="1"/>
              <a:t>search</a:t>
            </a:r>
            <a:r>
              <a:rPr lang="hr-HR" dirty="0"/>
              <a:t> – </a:t>
            </a:r>
            <a:r>
              <a:rPr lang="hr-HR" dirty="0" err="1"/>
              <a:t>representation</a:t>
            </a:r>
            <a:r>
              <a:rPr lang="hr-HR" dirty="0"/>
              <a:t> – ok!</a:t>
            </a:r>
          </a:p>
          <a:p>
            <a:pPr lvl="1"/>
            <a:r>
              <a:rPr lang="hr-HR" dirty="0" err="1"/>
              <a:t>Year</a:t>
            </a:r>
            <a:r>
              <a:rPr lang="hr-HR" dirty="0"/>
              <a:t> – </a:t>
            </a:r>
            <a:r>
              <a:rPr lang="hr-HR" dirty="0" err="1"/>
              <a:t>oldest</a:t>
            </a:r>
            <a:r>
              <a:rPr lang="hr-HR" dirty="0"/>
              <a:t> 2006, 2011, 2013,… – ok!</a:t>
            </a:r>
          </a:p>
          <a:p>
            <a:pPr lvl="1"/>
            <a:r>
              <a:rPr lang="hr-HR" dirty="0" err="1"/>
              <a:t>Keep</a:t>
            </a:r>
            <a:r>
              <a:rPr lang="hr-HR" dirty="0"/>
              <a:t> </a:t>
            </a:r>
            <a:r>
              <a:rPr lang="hr-HR" dirty="0" err="1"/>
              <a:t>articles</a:t>
            </a:r>
            <a:r>
              <a:rPr lang="hr-HR" dirty="0"/>
              <a:t>, </a:t>
            </a:r>
            <a:r>
              <a:rPr lang="hr-HR" dirty="0" err="1"/>
              <a:t>exclude</a:t>
            </a:r>
            <a:r>
              <a:rPr lang="hr-HR" dirty="0"/>
              <a:t> </a:t>
            </a:r>
            <a:r>
              <a:rPr lang="hr-HR" dirty="0" err="1"/>
              <a:t>book</a:t>
            </a:r>
            <a:r>
              <a:rPr lang="hr-HR" dirty="0"/>
              <a:t> </a:t>
            </a:r>
            <a:r>
              <a:rPr lang="hr-HR" dirty="0" err="1"/>
              <a:t>chapters</a:t>
            </a:r>
            <a:r>
              <a:rPr lang="hr-HR" dirty="0"/>
              <a:t> (</a:t>
            </a:r>
            <a:r>
              <a:rPr lang="hr-HR" dirty="0" err="1"/>
              <a:t>unable</a:t>
            </a:r>
            <a:r>
              <a:rPr lang="hr-HR" dirty="0"/>
              <a:t> to </a:t>
            </a:r>
            <a:r>
              <a:rPr lang="hr-HR" dirty="0" err="1"/>
              <a:t>access</a:t>
            </a:r>
            <a:r>
              <a:rPr lang="hr-HR" dirty="0"/>
              <a:t>), </a:t>
            </a:r>
            <a:r>
              <a:rPr lang="hr-HR" dirty="0" err="1"/>
              <a:t>conference</a:t>
            </a:r>
            <a:r>
              <a:rPr lang="hr-HR" dirty="0"/>
              <a:t> </a:t>
            </a:r>
            <a:r>
              <a:rPr lang="hr-HR" dirty="0" err="1"/>
              <a:t>papers</a:t>
            </a:r>
            <a:r>
              <a:rPr lang="hr-HR" dirty="0"/>
              <a:t> (75, </a:t>
            </a:r>
            <a:r>
              <a:rPr lang="hr-HR" dirty="0" err="1"/>
              <a:t>WiP</a:t>
            </a:r>
            <a:r>
              <a:rPr lang="hr-HR" dirty="0"/>
              <a:t>),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rest</a:t>
            </a:r>
            <a:r>
              <a:rPr lang="hr-HR" dirty="0"/>
              <a:t> </a:t>
            </a:r>
          </a:p>
          <a:p>
            <a:pPr lvl="1"/>
            <a:r>
              <a:rPr lang="hr-HR" dirty="0" err="1"/>
              <a:t>Language</a:t>
            </a:r>
            <a:r>
              <a:rPr lang="hr-HR" dirty="0"/>
              <a:t>: English</a:t>
            </a:r>
          </a:p>
          <a:p>
            <a:r>
              <a:rPr lang="hr-HR" dirty="0" err="1"/>
              <a:t>Now</a:t>
            </a:r>
            <a:r>
              <a:rPr lang="hr-HR" dirty="0"/>
              <a:t>: 253 </a:t>
            </a:r>
            <a:r>
              <a:rPr lang="hr-HR" dirty="0" err="1"/>
              <a:t>papers</a:t>
            </a:r>
            <a:endParaRPr lang="hr-HR" dirty="0"/>
          </a:p>
          <a:p>
            <a:pPr lvl="1"/>
            <a:endParaRPr lang="hr-HR" dirty="0"/>
          </a:p>
          <a:p>
            <a:endParaRPr lang="hr-HR" dirty="0"/>
          </a:p>
          <a:p>
            <a:pPr lvl="1"/>
            <a:endParaRPr lang="hr-HR" dirty="0"/>
          </a:p>
          <a:p>
            <a:pPr lvl="1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982697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5808F-C56B-A93A-ED6D-75CE45FD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A5BC994-0C7B-26C6-8432-14230E4B5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Systematic</a:t>
            </a:r>
            <a:r>
              <a:rPr lang="hr-HR" dirty="0"/>
              <a:t> </a:t>
            </a:r>
            <a:r>
              <a:rPr lang="hr-HR" dirty="0" err="1"/>
              <a:t>search</a:t>
            </a:r>
            <a:r>
              <a:rPr lang="hr-HR" dirty="0"/>
              <a:t> + download (</a:t>
            </a:r>
            <a:r>
              <a:rPr lang="hr-HR" dirty="0" err="1"/>
              <a:t>yt</a:t>
            </a:r>
            <a:r>
              <a:rPr lang="hr-HR" dirty="0"/>
              <a:t> video)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F43E2CB-A3AD-ADFB-4AB5-229250EBB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(TITLE-ABS-KEY ( supply chain )) AND (TITLE-ABS-KEY ( </a:t>
            </a:r>
            <a:r>
              <a:rPr lang="en-US" dirty="0" err="1"/>
              <a:t>resilien</a:t>
            </a:r>
            <a:r>
              <a:rPr lang="en-US" dirty="0"/>
              <a:t>* )) AND (TITLE-ABS-KEY ( risk )) AND (TITLE-ABS-KEY ( network )) AND (TITLE-ABS-KEY ( data )) AND ( LIMIT-TO ( DOCTYPE,"</a:t>
            </a:r>
            <a:r>
              <a:rPr lang="en-US" dirty="0" err="1"/>
              <a:t>ar</a:t>
            </a:r>
            <a:r>
              <a:rPr lang="en-US" dirty="0"/>
              <a:t>" ) OR LIMIT-TO ( DOCTYPE,"</a:t>
            </a:r>
            <a:r>
              <a:rPr lang="en-US" dirty="0" err="1"/>
              <a:t>ch</a:t>
            </a:r>
            <a:r>
              <a:rPr lang="en-US" dirty="0"/>
              <a:t>" ) ) AND ( LIMIT-TO ( </a:t>
            </a:r>
            <a:r>
              <a:rPr lang="en-US" dirty="0" err="1"/>
              <a:t>LANGUAGE,"English</a:t>
            </a:r>
            <a:r>
              <a:rPr lang="en-US" dirty="0"/>
              <a:t>" ) )</a:t>
            </a:r>
            <a:endParaRPr lang="hr-HR" dirty="0"/>
          </a:p>
          <a:p>
            <a:endParaRPr lang="hr-HR" dirty="0"/>
          </a:p>
          <a:p>
            <a:pPr lvl="1"/>
            <a:endParaRPr lang="hr-HR" dirty="0"/>
          </a:p>
          <a:p>
            <a:pPr lvl="1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71140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5628-A5D5-E5D3-6E4B-BA88A0C94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EE6930C-1EB8-1F2E-A84A-C0AEA7468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Systematic</a:t>
            </a:r>
            <a:r>
              <a:rPr lang="hr-HR" dirty="0"/>
              <a:t> </a:t>
            </a:r>
            <a:r>
              <a:rPr lang="hr-HR" dirty="0" err="1"/>
              <a:t>search</a:t>
            </a:r>
            <a:r>
              <a:rPr lang="hr-HR" dirty="0"/>
              <a:t> (</a:t>
            </a:r>
            <a:r>
              <a:rPr lang="hr-HR" dirty="0" err="1"/>
              <a:t>cont</a:t>
            </a:r>
            <a:r>
              <a:rPr lang="hr-HR" dirty="0"/>
              <a:t>.)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9B6FD60-C209-A827-9486-00C4C198A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r-HR" dirty="0"/>
              <a:t>Save as CSV (+</a:t>
            </a:r>
            <a:r>
              <a:rPr lang="hr-HR" dirty="0" err="1"/>
              <a:t>Abstract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keywords</a:t>
            </a:r>
            <a:r>
              <a:rPr lang="hr-HR" dirty="0"/>
              <a:t>)</a:t>
            </a:r>
          </a:p>
          <a:p>
            <a:r>
              <a:rPr lang="hr-HR" dirty="0"/>
              <a:t>MS Excel – data – „dohvati podatke” - otvoriti</a:t>
            </a:r>
          </a:p>
          <a:p>
            <a:r>
              <a:rPr lang="hr-HR" dirty="0"/>
              <a:t>Open file, </a:t>
            </a:r>
            <a:r>
              <a:rPr lang="hr-HR" dirty="0" err="1"/>
              <a:t>remove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following</a:t>
            </a:r>
            <a:r>
              <a:rPr lang="hr-HR" dirty="0"/>
              <a:t>:</a:t>
            </a:r>
          </a:p>
          <a:p>
            <a:pPr lvl="1"/>
            <a:r>
              <a:rPr lang="hr-HR" dirty="0" err="1"/>
              <a:t>Author</a:t>
            </a:r>
            <a:r>
              <a:rPr lang="hr-HR" dirty="0"/>
              <a:t> </a:t>
            </a:r>
            <a:r>
              <a:rPr lang="hr-HR" dirty="0" err="1"/>
              <a:t>full</a:t>
            </a:r>
            <a:r>
              <a:rPr lang="hr-HR" dirty="0"/>
              <a:t> </a:t>
            </a:r>
            <a:r>
              <a:rPr lang="hr-HR" dirty="0" err="1"/>
              <a:t>names</a:t>
            </a:r>
            <a:r>
              <a:rPr lang="hr-HR" dirty="0"/>
              <a:t>, </a:t>
            </a:r>
            <a:r>
              <a:rPr lang="hr-HR" dirty="0" err="1"/>
              <a:t>authors</a:t>
            </a:r>
            <a:r>
              <a:rPr lang="hr-HR" dirty="0"/>
              <a:t> ID, </a:t>
            </a:r>
            <a:r>
              <a:rPr lang="hr-HR" dirty="0" err="1"/>
              <a:t>Volume</a:t>
            </a:r>
            <a:r>
              <a:rPr lang="hr-HR" dirty="0"/>
              <a:t>, </a:t>
            </a:r>
            <a:r>
              <a:rPr lang="hr-HR" dirty="0" err="1"/>
              <a:t>Issue</a:t>
            </a:r>
            <a:r>
              <a:rPr lang="hr-HR" dirty="0"/>
              <a:t>, </a:t>
            </a:r>
            <a:r>
              <a:rPr lang="hr-HR" dirty="0" err="1"/>
              <a:t>Art.Number,Page</a:t>
            </a:r>
            <a:r>
              <a:rPr lang="hr-HR" dirty="0"/>
              <a:t> st, Page </a:t>
            </a:r>
            <a:r>
              <a:rPr lang="hr-HR" dirty="0" err="1"/>
              <a:t>end</a:t>
            </a:r>
            <a:r>
              <a:rPr lang="hr-HR" dirty="0"/>
              <a:t>, DOI, </a:t>
            </a:r>
            <a:r>
              <a:rPr lang="hr-HR" dirty="0" err="1"/>
              <a:t>document</a:t>
            </a:r>
            <a:r>
              <a:rPr lang="hr-HR" dirty="0"/>
              <a:t> </a:t>
            </a:r>
            <a:r>
              <a:rPr lang="hr-HR" dirty="0" err="1"/>
              <a:t>type</a:t>
            </a:r>
            <a:r>
              <a:rPr lang="hr-HR" dirty="0"/>
              <a:t>, </a:t>
            </a:r>
            <a:r>
              <a:rPr lang="hr-HR" dirty="0" err="1"/>
              <a:t>publication</a:t>
            </a:r>
            <a:r>
              <a:rPr lang="hr-HR" dirty="0"/>
              <a:t> </a:t>
            </a:r>
            <a:r>
              <a:rPr lang="hr-HR" dirty="0" err="1"/>
              <a:t>stage</a:t>
            </a:r>
            <a:r>
              <a:rPr lang="hr-HR" dirty="0"/>
              <a:t>, </a:t>
            </a:r>
            <a:r>
              <a:rPr lang="hr-HR" dirty="0" err="1"/>
              <a:t>open</a:t>
            </a:r>
            <a:r>
              <a:rPr lang="hr-HR" dirty="0"/>
              <a:t> </a:t>
            </a:r>
            <a:r>
              <a:rPr lang="hr-HR" dirty="0" err="1"/>
              <a:t>access</a:t>
            </a:r>
            <a:r>
              <a:rPr lang="hr-HR" dirty="0"/>
              <a:t>, </a:t>
            </a:r>
            <a:r>
              <a:rPr lang="hr-HR" dirty="0" err="1"/>
              <a:t>source</a:t>
            </a:r>
            <a:endParaRPr lang="hr-HR" dirty="0"/>
          </a:p>
          <a:p>
            <a:r>
              <a:rPr lang="hr-HR" dirty="0" err="1"/>
              <a:t>Select</a:t>
            </a:r>
            <a:r>
              <a:rPr lang="hr-HR" dirty="0"/>
              <a:t> </a:t>
            </a:r>
            <a:r>
              <a:rPr lang="hr-HR" dirty="0" err="1"/>
              <a:t>all</a:t>
            </a:r>
            <a:r>
              <a:rPr lang="hr-HR" dirty="0"/>
              <a:t> – </a:t>
            </a:r>
            <a:r>
              <a:rPr lang="hr-HR" dirty="0" err="1"/>
              <a:t>wrap</a:t>
            </a:r>
            <a:r>
              <a:rPr lang="hr-HR" dirty="0"/>
              <a:t> </a:t>
            </a:r>
            <a:r>
              <a:rPr lang="hr-HR" dirty="0" err="1"/>
              <a:t>text</a:t>
            </a:r>
            <a:endParaRPr lang="hr-HR" dirty="0"/>
          </a:p>
          <a:p>
            <a:r>
              <a:rPr lang="hr-HR" dirty="0" err="1"/>
              <a:t>Further</a:t>
            </a:r>
            <a:r>
              <a:rPr lang="hr-HR" dirty="0"/>
              <a:t> </a:t>
            </a:r>
            <a:r>
              <a:rPr lang="hr-HR" dirty="0" err="1"/>
              <a:t>screening</a:t>
            </a:r>
            <a:r>
              <a:rPr lang="hr-HR" dirty="0"/>
              <a:t> </a:t>
            </a:r>
            <a:r>
              <a:rPr lang="hr-HR" dirty="0" err="1"/>
              <a:t>by</a:t>
            </a:r>
            <a:r>
              <a:rPr lang="hr-HR" dirty="0"/>
              <a:t> </a:t>
            </a:r>
            <a:r>
              <a:rPr lang="hr-HR" dirty="0" err="1"/>
              <a:t>abstract</a:t>
            </a:r>
            <a:r>
              <a:rPr lang="hr-HR" dirty="0"/>
              <a:t> – </a:t>
            </a:r>
            <a:r>
              <a:rPr lang="hr-HR" dirty="0" err="1"/>
              <a:t>too</a:t>
            </a:r>
            <a:r>
              <a:rPr lang="hr-HR" dirty="0"/>
              <a:t> </a:t>
            </a:r>
            <a:r>
              <a:rPr lang="hr-HR" dirty="0" err="1"/>
              <a:t>specific</a:t>
            </a:r>
            <a:r>
              <a:rPr lang="hr-HR" dirty="0"/>
              <a:t>, </a:t>
            </a:r>
            <a:r>
              <a:rPr lang="hr-HR" dirty="0" err="1"/>
              <a:t>too</a:t>
            </a:r>
            <a:r>
              <a:rPr lang="hr-HR" dirty="0"/>
              <a:t> </a:t>
            </a:r>
            <a:r>
              <a:rPr lang="hr-HR" dirty="0" err="1"/>
              <a:t>broad</a:t>
            </a:r>
            <a:r>
              <a:rPr lang="hr-HR" dirty="0"/>
              <a:t>, </a:t>
            </a:r>
            <a:r>
              <a:rPr lang="hr-HR" dirty="0" err="1"/>
              <a:t>unrelated</a:t>
            </a:r>
            <a:r>
              <a:rPr lang="hr-HR" dirty="0"/>
              <a:t>, </a:t>
            </a:r>
            <a:r>
              <a:rPr lang="hr-HR" dirty="0" err="1"/>
              <a:t>irrevelant</a:t>
            </a:r>
            <a:r>
              <a:rPr lang="hr-HR" dirty="0"/>
              <a:t> </a:t>
            </a:r>
            <a:r>
              <a:rPr lang="hr-HR" dirty="0" err="1"/>
              <a:t>methodology</a:t>
            </a:r>
            <a:r>
              <a:rPr lang="hr-HR" dirty="0"/>
              <a:t>, </a:t>
            </a:r>
            <a:r>
              <a:rPr lang="hr-HR" dirty="0" err="1"/>
              <a:t>not</a:t>
            </a:r>
            <a:r>
              <a:rPr lang="hr-HR" dirty="0"/>
              <a:t> </a:t>
            </a:r>
            <a:r>
              <a:rPr lang="hr-HR" dirty="0" err="1"/>
              <a:t>useful</a:t>
            </a:r>
            <a:r>
              <a:rPr lang="hr-HR" dirty="0"/>
              <a:t>,… (cybersecurity,healthcare,blockchain,covid19…)</a:t>
            </a:r>
          </a:p>
          <a:p>
            <a:r>
              <a:rPr lang="hr-HR" dirty="0" err="1"/>
              <a:t>additional</a:t>
            </a:r>
            <a:r>
              <a:rPr lang="hr-HR" dirty="0"/>
              <a:t> </a:t>
            </a:r>
            <a:r>
              <a:rPr lang="hr-HR" dirty="0" err="1"/>
              <a:t>screening</a:t>
            </a:r>
            <a:r>
              <a:rPr lang="hr-HR" dirty="0"/>
              <a:t> </a:t>
            </a:r>
            <a:r>
              <a:rPr lang="hr-HR" dirty="0" err="1"/>
              <a:t>by</a:t>
            </a:r>
            <a:r>
              <a:rPr lang="hr-HR" dirty="0"/>
              <a:t> </a:t>
            </a:r>
            <a:r>
              <a:rPr lang="hr-HR" dirty="0" err="1"/>
              <a:t>journal</a:t>
            </a:r>
            <a:r>
              <a:rPr lang="hr-HR" dirty="0"/>
              <a:t> </a:t>
            </a:r>
            <a:r>
              <a:rPr lang="hr-HR" dirty="0" err="1"/>
              <a:t>quality</a:t>
            </a:r>
            <a:r>
              <a:rPr lang="hr-HR" dirty="0"/>
              <a:t> (</a:t>
            </a:r>
            <a:r>
              <a:rPr lang="hr-HR" dirty="0" err="1"/>
              <a:t>compare</a:t>
            </a:r>
            <a:r>
              <a:rPr lang="hr-HR" dirty="0"/>
              <a:t> to </a:t>
            </a:r>
            <a:r>
              <a:rPr lang="hr-HR" dirty="0" err="1"/>
              <a:t>predatory</a:t>
            </a:r>
            <a:r>
              <a:rPr lang="hr-HR" dirty="0"/>
              <a:t> list)</a:t>
            </a:r>
          </a:p>
          <a:p>
            <a:r>
              <a:rPr lang="hr-HR" dirty="0" err="1"/>
              <a:t>sort</a:t>
            </a:r>
            <a:r>
              <a:rPr lang="hr-HR" dirty="0"/>
              <a:t> </a:t>
            </a:r>
            <a:r>
              <a:rPr lang="hr-HR" dirty="0" err="1"/>
              <a:t>by</a:t>
            </a:r>
            <a:r>
              <a:rPr lang="hr-HR" dirty="0"/>
              <a:t> </a:t>
            </a:r>
            <a:r>
              <a:rPr lang="hr-HR" dirty="0" err="1"/>
              <a:t>year</a:t>
            </a:r>
            <a:r>
              <a:rPr lang="hr-HR" dirty="0"/>
              <a:t>/</a:t>
            </a:r>
            <a:r>
              <a:rPr lang="hr-HR" dirty="0" err="1"/>
              <a:t>citations,keeping</a:t>
            </a:r>
            <a:r>
              <a:rPr lang="hr-HR" dirty="0"/>
              <a:t> </a:t>
            </a:r>
            <a:r>
              <a:rPr lang="hr-HR" dirty="0" err="1"/>
              <a:t>it</a:t>
            </a:r>
            <a:r>
              <a:rPr lang="hr-HR" dirty="0"/>
              <a:t> wide, </a:t>
            </a:r>
            <a:r>
              <a:rPr lang="hr-HR" dirty="0" err="1"/>
              <a:t>because</a:t>
            </a:r>
            <a:r>
              <a:rPr lang="hr-HR" dirty="0"/>
              <a:t> </a:t>
            </a:r>
            <a:r>
              <a:rPr lang="hr-HR" dirty="0" err="1"/>
              <a:t>it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initial</a:t>
            </a:r>
            <a:r>
              <a:rPr lang="hr-HR" dirty="0"/>
              <a:t> </a:t>
            </a:r>
            <a:r>
              <a:rPr lang="hr-HR" dirty="0" err="1"/>
              <a:t>screening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looking</a:t>
            </a:r>
            <a:r>
              <a:rPr lang="hr-HR" dirty="0"/>
              <a:t> for </a:t>
            </a:r>
            <a:r>
              <a:rPr lang="hr-HR" dirty="0" err="1"/>
              <a:t>methodology</a:t>
            </a:r>
            <a:r>
              <a:rPr lang="hr-HR" dirty="0"/>
              <a:t> </a:t>
            </a:r>
            <a:r>
              <a:rPr lang="hr-HR" dirty="0" err="1"/>
              <a:t>etc</a:t>
            </a:r>
            <a:r>
              <a:rPr lang="hr-HR" dirty="0"/>
              <a:t>., </a:t>
            </a:r>
            <a:r>
              <a:rPr lang="hr-HR" dirty="0" err="1"/>
              <a:t>not</a:t>
            </a:r>
            <a:r>
              <a:rPr lang="hr-HR" dirty="0"/>
              <a:t> </a:t>
            </a:r>
            <a:r>
              <a:rPr lang="hr-HR" dirty="0" err="1"/>
              <a:t>looking</a:t>
            </a:r>
            <a:r>
              <a:rPr lang="hr-HR" dirty="0"/>
              <a:t> for </a:t>
            </a:r>
            <a:r>
              <a:rPr lang="hr-HR" dirty="0" err="1"/>
              <a:t>tight</a:t>
            </a:r>
            <a:r>
              <a:rPr lang="hr-HR" dirty="0"/>
              <a:t> </a:t>
            </a:r>
            <a:r>
              <a:rPr lang="hr-HR" dirty="0" err="1"/>
              <a:t>thematic</a:t>
            </a:r>
            <a:r>
              <a:rPr lang="hr-HR" dirty="0"/>
              <a:t> </a:t>
            </a:r>
            <a:r>
              <a:rPr lang="hr-HR" dirty="0" err="1"/>
              <a:t>overlap</a:t>
            </a:r>
            <a:endParaRPr lang="hr-HR" dirty="0"/>
          </a:p>
          <a:p>
            <a:r>
              <a:rPr lang="hr-HR" dirty="0" err="1"/>
              <a:t>What</a:t>
            </a:r>
            <a:r>
              <a:rPr lang="hr-HR" dirty="0"/>
              <a:t> </a:t>
            </a:r>
            <a:r>
              <a:rPr lang="hr-HR" dirty="0" err="1"/>
              <a:t>is</a:t>
            </a:r>
            <a:r>
              <a:rPr lang="hr-HR" dirty="0"/>
              <a:t> </a:t>
            </a:r>
            <a:r>
              <a:rPr lang="hr-HR" dirty="0" err="1"/>
              <a:t>left</a:t>
            </a:r>
            <a:r>
              <a:rPr lang="hr-HR" dirty="0"/>
              <a:t>: [</a:t>
            </a:r>
            <a:r>
              <a:rPr lang="hr-HR" dirty="0" err="1"/>
              <a:t>establishing</a:t>
            </a:r>
            <a:r>
              <a:rPr lang="hr-HR" dirty="0"/>
              <a:t> </a:t>
            </a:r>
            <a:r>
              <a:rPr lang="hr-HR" dirty="0" err="1"/>
              <a:t>resiliency</a:t>
            </a:r>
            <a:r>
              <a:rPr lang="hr-HR" dirty="0"/>
              <a:t>? ] …</a:t>
            </a:r>
            <a:r>
              <a:rPr lang="hr-HR" dirty="0" err="1"/>
              <a:t>various</a:t>
            </a:r>
            <a:r>
              <a:rPr lang="hr-HR" dirty="0"/>
              <a:t> </a:t>
            </a:r>
            <a:r>
              <a:rPr lang="hr-HR" dirty="0" err="1"/>
              <a:t>domains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fields</a:t>
            </a:r>
            <a:r>
              <a:rPr lang="hr-HR" dirty="0"/>
              <a:t>, but </a:t>
            </a:r>
            <a:r>
              <a:rPr lang="hr-HR" dirty="0" err="1"/>
              <a:t>useful</a:t>
            </a:r>
            <a:r>
              <a:rPr lang="hr-HR" dirty="0"/>
              <a:t> to </a:t>
            </a:r>
            <a:r>
              <a:rPr lang="hr-HR" dirty="0" err="1"/>
              <a:t>understand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ways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risk</a:t>
            </a:r>
            <a:r>
              <a:rPr lang="hr-HR" dirty="0"/>
              <a:t> </a:t>
            </a:r>
            <a:r>
              <a:rPr lang="hr-HR" dirty="0" err="1"/>
              <a:t>assessment</a:t>
            </a:r>
            <a:r>
              <a:rPr lang="hr-HR" dirty="0"/>
              <a:t>, </a:t>
            </a:r>
            <a:r>
              <a:rPr lang="hr-HR" dirty="0" err="1"/>
              <a:t>etc</a:t>
            </a:r>
            <a:r>
              <a:rPr lang="hr-HR" dirty="0"/>
              <a:t>… </a:t>
            </a:r>
            <a:r>
              <a:rPr lang="hr-HR" dirty="0" err="1"/>
              <a:t>goal</a:t>
            </a:r>
            <a:r>
              <a:rPr lang="hr-HR" dirty="0"/>
              <a:t>: </a:t>
            </a:r>
            <a:r>
              <a:rPr lang="hr-HR" dirty="0" err="1"/>
              <a:t>about</a:t>
            </a:r>
            <a:r>
              <a:rPr lang="hr-HR" dirty="0"/>
              <a:t> 50? – problem: Emerald </a:t>
            </a:r>
            <a:r>
              <a:rPr lang="hr-HR" dirty="0" err="1"/>
              <a:t>insight</a:t>
            </a:r>
            <a:r>
              <a:rPr lang="hr-HR" dirty="0"/>
              <a:t> </a:t>
            </a:r>
            <a:r>
              <a:rPr lang="hr-HR" dirty="0" err="1"/>
              <a:t>access</a:t>
            </a:r>
            <a:r>
              <a:rPr lang="hr-HR" dirty="0"/>
              <a:t>, </a:t>
            </a:r>
            <a:r>
              <a:rPr lang="hr-HR" dirty="0" err="1"/>
              <a:t>Taylor&amp;Francis</a:t>
            </a:r>
            <a:r>
              <a:rPr lang="hr-HR" dirty="0"/>
              <a:t> – </a:t>
            </a:r>
            <a:r>
              <a:rPr lang="hr-HR" dirty="0" err="1"/>
              <a:t>endresult</a:t>
            </a:r>
            <a:r>
              <a:rPr lang="hr-HR" dirty="0"/>
              <a:t>: </a:t>
            </a:r>
            <a:r>
              <a:rPr lang="hr-HR" b="1" dirty="0"/>
              <a:t>51</a:t>
            </a:r>
          </a:p>
          <a:p>
            <a:r>
              <a:rPr lang="hr-HR" dirty="0" err="1"/>
              <a:t>It</a:t>
            </a:r>
            <a:r>
              <a:rPr lang="hr-HR" dirty="0"/>
              <a:t> </a:t>
            </a:r>
            <a:r>
              <a:rPr lang="hr-HR" dirty="0" err="1"/>
              <a:t>will</a:t>
            </a:r>
            <a:r>
              <a:rPr lang="hr-HR" dirty="0"/>
              <a:t> </a:t>
            </a:r>
            <a:r>
              <a:rPr lang="hr-HR" dirty="0" err="1"/>
              <a:t>enable</a:t>
            </a:r>
            <a:r>
              <a:rPr lang="hr-HR" dirty="0"/>
              <a:t> me to </a:t>
            </a:r>
            <a:r>
              <a:rPr lang="hr-HR" dirty="0" err="1"/>
              <a:t>understand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familiarize</a:t>
            </a:r>
            <a:r>
              <a:rPr lang="hr-HR" dirty="0"/>
              <a:t> </a:t>
            </a:r>
            <a:r>
              <a:rPr lang="hr-HR" dirty="0" err="1"/>
              <a:t>myself</a:t>
            </a:r>
            <a:r>
              <a:rPr lang="hr-HR" dirty="0"/>
              <a:t> </a:t>
            </a:r>
            <a:r>
              <a:rPr lang="hr-HR" dirty="0" err="1"/>
              <a:t>with</a:t>
            </a:r>
            <a:r>
              <a:rPr lang="hr-HR" dirty="0"/>
              <a:t> </a:t>
            </a:r>
            <a:r>
              <a:rPr lang="hr-HR" dirty="0" err="1"/>
              <a:t>appropriate</a:t>
            </a:r>
            <a:r>
              <a:rPr lang="hr-HR" dirty="0"/>
              <a:t> </a:t>
            </a:r>
            <a:r>
              <a:rPr lang="hr-HR" dirty="0" err="1"/>
              <a:t>methodology</a:t>
            </a:r>
            <a:r>
              <a:rPr lang="hr-HR" dirty="0"/>
              <a:t> (</a:t>
            </a:r>
            <a:r>
              <a:rPr lang="hr-HR" dirty="0" err="1"/>
              <a:t>bayesian</a:t>
            </a:r>
            <a:r>
              <a:rPr lang="hr-HR" dirty="0"/>
              <a:t>…) – </a:t>
            </a:r>
            <a:r>
              <a:rPr lang="hr-HR" dirty="0" err="1"/>
              <a:t>also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[</a:t>
            </a:r>
            <a:r>
              <a:rPr lang="hr-HR" dirty="0" err="1"/>
              <a:t>results</a:t>
            </a:r>
            <a:r>
              <a:rPr lang="hr-HR" dirty="0"/>
              <a:t> </a:t>
            </a:r>
            <a:r>
              <a:rPr lang="hr-HR" dirty="0" err="1"/>
              <a:t>section</a:t>
            </a:r>
            <a:r>
              <a:rPr lang="hr-HR" dirty="0"/>
              <a:t>]</a:t>
            </a:r>
          </a:p>
          <a:p>
            <a:pPr lvl="1"/>
            <a:endParaRPr lang="hr-HR" dirty="0"/>
          </a:p>
          <a:p>
            <a:endParaRPr lang="hr-HR" dirty="0"/>
          </a:p>
          <a:p>
            <a:pPr lvl="1"/>
            <a:endParaRPr lang="hr-HR" dirty="0"/>
          </a:p>
          <a:p>
            <a:pPr lvl="1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42497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F764A71-9CD6-38EA-EF9F-DD9747722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Comment</a:t>
            </a:r>
            <a:r>
              <a:rPr lang="hr-HR" dirty="0"/>
              <a:t>: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B646B0FA-DC8B-24D0-F4F8-41A6AE6E3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r-HR" dirty="0" err="1"/>
              <a:t>Comment</a:t>
            </a:r>
            <a:r>
              <a:rPr lang="hr-HR" dirty="0"/>
              <a:t> on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chunk</a:t>
            </a:r>
            <a:r>
              <a:rPr lang="hr-HR" dirty="0"/>
              <a:t> </a:t>
            </a:r>
            <a:r>
              <a:rPr lang="hr-HR" dirty="0" err="1"/>
              <a:t>size</a:t>
            </a:r>
            <a:r>
              <a:rPr lang="hr-HR" dirty="0"/>
              <a:t> – </a:t>
            </a:r>
            <a:r>
              <a:rPr lang="hr-HR" dirty="0" err="1"/>
              <a:t>which</a:t>
            </a:r>
            <a:r>
              <a:rPr lang="hr-HR" dirty="0"/>
              <a:t> one </a:t>
            </a:r>
            <a:r>
              <a:rPr lang="hr-HR" dirty="0" err="1"/>
              <a:t>will</a:t>
            </a:r>
            <a:r>
              <a:rPr lang="hr-HR" dirty="0"/>
              <a:t> I use?</a:t>
            </a:r>
          </a:p>
          <a:p>
            <a:r>
              <a:rPr lang="hr-HR" dirty="0" err="1"/>
              <a:t>Explain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added</a:t>
            </a:r>
            <a:r>
              <a:rPr lang="hr-HR" dirty="0"/>
              <a:t> </a:t>
            </a:r>
            <a:r>
              <a:rPr lang="hr-HR" dirty="0" err="1"/>
              <a:t>overlap</a:t>
            </a:r>
            <a:r>
              <a:rPr lang="hr-HR" dirty="0"/>
              <a:t>!</a:t>
            </a:r>
          </a:p>
          <a:p>
            <a:r>
              <a:rPr lang="hr-HR" dirty="0" err="1"/>
              <a:t>Addition</a:t>
            </a:r>
            <a:r>
              <a:rPr lang="hr-HR" dirty="0"/>
              <a:t>: </a:t>
            </a:r>
            <a:r>
              <a:rPr lang="hr-HR" dirty="0" err="1"/>
              <a:t>abstracts</a:t>
            </a:r>
            <a:r>
              <a:rPr lang="hr-HR" dirty="0"/>
              <a:t> </a:t>
            </a:r>
            <a:r>
              <a:rPr lang="hr-HR" dirty="0" err="1"/>
              <a:t>from</a:t>
            </a:r>
            <a:r>
              <a:rPr lang="hr-HR" dirty="0"/>
              <a:t> </a:t>
            </a:r>
            <a:r>
              <a:rPr lang="hr-HR" dirty="0" err="1"/>
              <a:t>other</a:t>
            </a:r>
            <a:r>
              <a:rPr lang="hr-HR" dirty="0"/>
              <a:t> </a:t>
            </a:r>
            <a:r>
              <a:rPr lang="hr-HR" dirty="0" err="1"/>
              <a:t>papers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are </a:t>
            </a:r>
            <a:r>
              <a:rPr lang="hr-HR" dirty="0" err="1"/>
              <a:t>not</a:t>
            </a:r>
            <a:r>
              <a:rPr lang="hr-HR" dirty="0"/>
              <a:t> </a:t>
            </a:r>
            <a:r>
              <a:rPr lang="hr-HR" dirty="0" err="1"/>
              <a:t>accessible</a:t>
            </a:r>
            <a:endParaRPr lang="hr-HR" dirty="0"/>
          </a:p>
          <a:p>
            <a:pPr lvl="1"/>
            <a:r>
              <a:rPr lang="hr-HR" dirty="0" err="1"/>
              <a:t>Chunking</a:t>
            </a:r>
            <a:r>
              <a:rPr lang="hr-HR" dirty="0"/>
              <a:t>?</a:t>
            </a:r>
          </a:p>
          <a:p>
            <a:r>
              <a:rPr lang="en-US" dirty="0"/>
              <a:t>In RAG, chunking shouldn’t just be “cut every N characters”. It should respect </a:t>
            </a:r>
            <a:r>
              <a:rPr lang="en-US" b="1" dirty="0"/>
              <a:t>document boundaries</a:t>
            </a:r>
            <a:r>
              <a:rPr lang="en-US" dirty="0"/>
              <a:t> and ideally </a:t>
            </a:r>
            <a:r>
              <a:rPr lang="en-US" b="1" dirty="0"/>
              <a:t>logical boundaries</a:t>
            </a:r>
            <a:r>
              <a:rPr lang="en-US" dirty="0"/>
              <a:t>.</a:t>
            </a:r>
          </a:p>
          <a:p>
            <a:r>
              <a:rPr lang="en-US" dirty="0"/>
              <a:t>So you want two guarantees:</a:t>
            </a:r>
          </a:p>
          <a:p>
            <a:r>
              <a:rPr lang="en-US" b="1" dirty="0"/>
              <a:t>Never mix different source documents in one chunk</a:t>
            </a:r>
            <a:endParaRPr lang="en-US" dirty="0"/>
          </a:p>
          <a:p>
            <a:r>
              <a:rPr lang="en-US" dirty="0"/>
              <a:t>For abstracts, </a:t>
            </a:r>
            <a:r>
              <a:rPr lang="en-US" b="1" dirty="0"/>
              <a:t>never mix different abstracts in one chunk</a:t>
            </a:r>
            <a:endParaRPr lang="en-US" dirty="0"/>
          </a:p>
          <a:p>
            <a:r>
              <a:rPr lang="en-US" dirty="0"/>
              <a:t>If you do those two things, differing lengths are not a problem.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85662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755B4-0173-10DD-E771-0FA2A9720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0E41174-922C-475A-3398-214DFD3E2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Comment</a:t>
            </a:r>
            <a:r>
              <a:rPr lang="hr-HR" dirty="0"/>
              <a:t>: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D311492-5E12-E955-FA8F-4489F2A30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b="1" dirty="0"/>
              <a:t>One critical weakness to watch (this matters)</a:t>
            </a:r>
          </a:p>
          <a:p>
            <a:pPr marL="0" indent="0">
              <a:buNone/>
            </a:pPr>
            <a:r>
              <a:rPr lang="en-US" dirty="0"/>
              <a:t>If you mix full texts + abstracts in one DB, retrieval can become biased toward abstracts because:</a:t>
            </a:r>
          </a:p>
          <a:p>
            <a:r>
              <a:rPr lang="en-US" dirty="0"/>
              <a:t>abstracts are dense summaries and match queries well</a:t>
            </a:r>
          </a:p>
          <a:p>
            <a:r>
              <a:rPr lang="en-US" dirty="0"/>
              <a:t>full text chunks can be more diffuse</a:t>
            </a:r>
          </a:p>
          <a:p>
            <a:pPr marL="0" indent="0">
              <a:buNone/>
            </a:pPr>
            <a:r>
              <a:rPr lang="en-US" dirty="0"/>
              <a:t>That’s not “wrong”, but you should be aware.</a:t>
            </a:r>
          </a:p>
          <a:p>
            <a:pPr marL="0" indent="0">
              <a:buNone/>
            </a:pPr>
            <a:r>
              <a:rPr lang="en-US" dirty="0"/>
              <a:t>Two ways to handle it:</a:t>
            </a:r>
          </a:p>
          <a:p>
            <a:pPr marL="0" indent="0">
              <a:buNone/>
            </a:pPr>
            <a:r>
              <a:rPr lang="en-US" b="1" dirty="0"/>
              <a:t>Option A (simple): keep them together, but show source type</a:t>
            </a:r>
          </a:p>
          <a:p>
            <a:r>
              <a:rPr lang="en-US" dirty="0"/>
              <a:t>When printing retrieved chunks, show:</a:t>
            </a:r>
            <a:br>
              <a:rPr lang="en-US" dirty="0"/>
            </a:br>
            <a:r>
              <a:rPr lang="en-US" dirty="0"/>
              <a:t>[abstract] vs [</a:t>
            </a:r>
            <a:r>
              <a:rPr lang="en-US" dirty="0" err="1"/>
              <a:t>full_text</a:t>
            </a:r>
            <a:r>
              <a:rPr lang="en-US" dirty="0"/>
              <a:t>]</a:t>
            </a:r>
          </a:p>
          <a:p>
            <a:r>
              <a:rPr lang="en-US" dirty="0"/>
              <a:t>So you can see what’s being used.</a:t>
            </a:r>
          </a:p>
          <a:p>
            <a:pPr marL="0" indent="0">
              <a:buNone/>
            </a:pPr>
            <a:r>
              <a:rPr lang="en-US" b="1" dirty="0"/>
              <a:t>Option B (better): retrieve from both pools</a:t>
            </a:r>
          </a:p>
          <a:p>
            <a:r>
              <a:rPr lang="en-US" dirty="0"/>
              <a:t>Do “top-k from abstracts” + “top-k from full texts”, then combine.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top 3 abstracts</a:t>
            </a:r>
          </a:p>
          <a:p>
            <a:r>
              <a:rPr lang="en-US" dirty="0"/>
              <a:t>top 3 full-text chunks</a:t>
            </a:r>
          </a:p>
          <a:p>
            <a:r>
              <a:rPr lang="en-US" dirty="0"/>
              <a:t>This makes your answers less “abstract-only”.</a:t>
            </a:r>
          </a:p>
          <a:p>
            <a:pPr marL="0" indent="0">
              <a:buNone/>
            </a:pPr>
            <a:endParaRPr lang="hr-HR" dirty="0"/>
          </a:p>
          <a:p>
            <a:pPr marL="0" indent="0">
              <a:buNone/>
            </a:pPr>
            <a:r>
              <a:rPr lang="en-US" dirty="0"/>
              <a:t>For a course paper, Option A is usually enough; Option B is a nice methodological upgrade.</a:t>
            </a:r>
            <a:endParaRPr lang="hr-HR" dirty="0"/>
          </a:p>
          <a:p>
            <a:pPr marL="0" indent="0">
              <a:buNone/>
            </a:pPr>
            <a:endParaRPr lang="hr-HR" dirty="0"/>
          </a:p>
          <a:p>
            <a:pPr marL="0" indent="0">
              <a:buNone/>
            </a:pPr>
            <a:r>
              <a:rPr lang="en-US" dirty="0"/>
              <a:t>I will use a single .csv file for the abstracts but I need to code the script so it treats each abstract as a separate document so that each abstract is a single, separate chunk.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073450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F9C5EB1-E198-DD6A-754E-C392EDA22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B32324-7196-BEA3-34F1-00657AA3EC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401129"/>
            <a:ext cx="530145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CSV 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one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✔	- is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chunking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must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respect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boundaries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abstracts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should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single </a:t>
            </a:r>
            <a:r>
              <a:rPr kumimoji="0" lang="sr-Latn-RS" altLang="sr-Latn-R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chunks</a:t>
            </a:r>
            <a:r>
              <a:rPr kumimoji="0" lang="sr-Latn-RS" altLang="sr-Latn-R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✔</a:t>
            </a:r>
          </a:p>
        </p:txBody>
      </p:sp>
    </p:spTree>
    <p:extLst>
      <p:ext uri="{BB962C8B-B14F-4D97-AF65-F5344CB8AC3E}">
        <p14:creationId xmlns:p14="http://schemas.microsoft.com/office/powerpoint/2010/main" val="803371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E7ACE92-A10B-635D-E918-AF5B14C49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4EF8879-CA51-FEEE-64FD-86B8F4BD2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Loading a dataset (e.g., cat facts)</a:t>
            </a:r>
            <a:endParaRPr lang="hr-HR" dirty="0"/>
          </a:p>
          <a:p>
            <a:r>
              <a:rPr lang="en-US" dirty="0"/>
              <a:t>Embedding chunks using Ollama</a:t>
            </a:r>
            <a:endParaRPr lang="hr-HR" dirty="0"/>
          </a:p>
          <a:p>
            <a:r>
              <a:rPr lang="en-US" dirty="0"/>
              <a:t>Storing the embeddings</a:t>
            </a:r>
            <a:endParaRPr lang="hr-HR" dirty="0"/>
          </a:p>
          <a:p>
            <a:r>
              <a:rPr lang="en-US" dirty="0"/>
              <a:t>A retrieval function to get the most relevant chunks</a:t>
            </a:r>
            <a:endParaRPr lang="hr-HR" dirty="0"/>
          </a:p>
          <a:p>
            <a:r>
              <a:rPr lang="en-US" dirty="0"/>
              <a:t>A chat loop that builds a prompt and queries the model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142719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86BBA0B-BB85-2D03-A02C-75C2F7413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Making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code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running</a:t>
            </a:r>
            <a:r>
              <a:rPr lang="hr-HR" dirty="0"/>
              <a:t> </a:t>
            </a:r>
            <a:r>
              <a:rPr lang="hr-HR" dirty="0" err="1"/>
              <a:t>it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E8E116F-CFE4-89F1-6CA9-B632D9EC8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input length exceeds the context length (status code: 400)</a:t>
            </a:r>
            <a:endParaRPr lang="hr-HR" dirty="0"/>
          </a:p>
          <a:p>
            <a:pPr lvl="1"/>
            <a:r>
              <a:rPr lang="en-US" dirty="0"/>
              <a:t>During preprocessing, a small number of extracted text segments exceeded model input limits; these were automatically split or truncated to comply with embedding constraints.</a:t>
            </a:r>
            <a:endParaRPr lang="hr-HR" dirty="0"/>
          </a:p>
          <a:p>
            <a:pPr lvl="1"/>
            <a:r>
              <a:rPr lang="en-US" dirty="0"/>
              <a:t>During corpus preprocessing, text chunks were embedded into vector representations. A small number of extracted segments exceeded the embedding model’s input constraints and were automatically truncated or subdivided to ensure successful embedding.</a:t>
            </a:r>
            <a:endParaRPr lang="hr-HR" dirty="0"/>
          </a:p>
          <a:p>
            <a:pPr lvl="1"/>
            <a:endParaRPr lang="hr-HR" dirty="0"/>
          </a:p>
          <a:p>
            <a:r>
              <a:rPr lang="en-US" dirty="0"/>
              <a:t>DONE. VECTOR_DB size = 4503 chunks</a:t>
            </a:r>
            <a:endParaRPr lang="hr-HR" dirty="0"/>
          </a:p>
          <a:p>
            <a:r>
              <a:rPr lang="hr-HR" dirty="0" err="1"/>
              <a:t>Difference</a:t>
            </a:r>
            <a:r>
              <a:rPr lang="hr-HR" dirty="0"/>
              <a:t>: </a:t>
            </a:r>
            <a:r>
              <a:rPr lang="hr-HR" dirty="0" err="1"/>
              <a:t>two</a:t>
            </a:r>
            <a:r>
              <a:rPr lang="hr-HR" dirty="0"/>
              <a:t> </a:t>
            </a:r>
            <a:r>
              <a:rPr lang="hr-HR" dirty="0" err="1"/>
              <a:t>models</a:t>
            </a:r>
            <a:r>
              <a:rPr lang="hr-HR" dirty="0"/>
              <a:t>!</a:t>
            </a:r>
          </a:p>
          <a:p>
            <a:pPr lvl="1"/>
            <a:r>
              <a:rPr lang="hr-HR" dirty="0"/>
              <a:t>One for </a:t>
            </a:r>
            <a:r>
              <a:rPr lang="hr-HR" dirty="0" err="1"/>
              <a:t>embedding</a:t>
            </a:r>
            <a:endParaRPr lang="hr-HR" dirty="0"/>
          </a:p>
          <a:p>
            <a:pPr lvl="1"/>
            <a:r>
              <a:rPr lang="hr-HR" dirty="0"/>
              <a:t>One for </a:t>
            </a:r>
            <a:r>
              <a:rPr lang="hr-HR" dirty="0" err="1"/>
              <a:t>response</a:t>
            </a:r>
            <a:r>
              <a:rPr lang="hr-HR" dirty="0"/>
              <a:t> </a:t>
            </a:r>
            <a:r>
              <a:rPr lang="hr-HR" dirty="0" err="1"/>
              <a:t>generation</a:t>
            </a:r>
            <a:r>
              <a:rPr lang="hr-HR" dirty="0"/>
              <a:t> (LLM)</a:t>
            </a:r>
          </a:p>
        </p:txBody>
      </p:sp>
    </p:spTree>
    <p:extLst>
      <p:ext uri="{BB962C8B-B14F-4D97-AF65-F5344CB8AC3E}">
        <p14:creationId xmlns:p14="http://schemas.microsoft.com/office/powerpoint/2010/main" val="2798245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84C56-DE0F-DB31-EECA-ED9730B48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0133DE4-E325-5885-38B5-B19671FAA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Conclusions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3575886-405E-06AD-B2D9-744A95707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err="1"/>
              <a:t>Supply</a:t>
            </a:r>
            <a:r>
              <a:rPr lang="hr-HR" dirty="0"/>
              <a:t> Chain as a </a:t>
            </a:r>
            <a:r>
              <a:rPr lang="hr-HR" dirty="0" err="1"/>
              <a:t>term</a:t>
            </a:r>
            <a:endParaRPr lang="hr-HR" dirty="0"/>
          </a:p>
          <a:p>
            <a:pPr lvl="1"/>
            <a:r>
              <a:rPr lang="hr-HR" dirty="0"/>
              <a:t>For </a:t>
            </a:r>
            <a:r>
              <a:rPr lang="hr-HR" dirty="0" err="1"/>
              <a:t>initial</a:t>
            </a:r>
            <a:r>
              <a:rPr lang="hr-HR" dirty="0"/>
              <a:t> </a:t>
            </a:r>
            <a:r>
              <a:rPr lang="hr-HR" dirty="0" err="1"/>
              <a:t>search</a:t>
            </a:r>
            <a:r>
              <a:rPr lang="hr-HR" dirty="0"/>
              <a:t>: ok</a:t>
            </a:r>
          </a:p>
          <a:p>
            <a:pPr lvl="1"/>
            <a:r>
              <a:rPr lang="hr-HR" dirty="0"/>
              <a:t>For </a:t>
            </a:r>
            <a:r>
              <a:rPr lang="hr-HR" dirty="0" err="1"/>
              <a:t>further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deeper</a:t>
            </a:r>
            <a:r>
              <a:rPr lang="hr-HR" dirty="0"/>
              <a:t> </a:t>
            </a:r>
            <a:r>
              <a:rPr lang="hr-HR" dirty="0" err="1"/>
              <a:t>investigation</a:t>
            </a:r>
            <a:r>
              <a:rPr lang="hr-HR" dirty="0"/>
              <a:t> – </a:t>
            </a:r>
            <a:r>
              <a:rPr lang="hr-HR" dirty="0" err="1"/>
              <a:t>too</a:t>
            </a:r>
            <a:r>
              <a:rPr lang="hr-HR" dirty="0"/>
              <a:t> </a:t>
            </a:r>
            <a:r>
              <a:rPr lang="hr-HR" dirty="0" err="1"/>
              <a:t>broad</a:t>
            </a: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488809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EA482DB-5657-8E83-6878-6E7A4B6A2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Abstracts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same file	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55AAE11-9431-8D88-1C9C-3366A80F8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Mičemo „</a:t>
            </a:r>
            <a:r>
              <a:rPr lang="hr-HR" dirty="0" err="1"/>
              <a:t>readlines</a:t>
            </a:r>
            <a:r>
              <a:rPr lang="hr-HR" dirty="0"/>
              <a:t>” kao pravilo iz koda iz primjera</a:t>
            </a:r>
          </a:p>
        </p:txBody>
      </p:sp>
      <p:graphicFrame>
        <p:nvGraphicFramePr>
          <p:cNvPr id="32" name="Tablica 31">
            <a:extLst>
              <a:ext uri="{FF2B5EF4-FFF2-40B4-BE49-F238E27FC236}">
                <a16:creationId xmlns:a16="http://schemas.microsoft.com/office/drawing/2014/main" id="{A9D9D04C-0BA3-788F-6CF6-7DE8E3EE4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808194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1221732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379671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Toy 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Your abstracts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27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>
                          <a:latin typeface="Courier New" panose="02070309020205020404" pitchFamily="49" charset="0"/>
                        </a:rPr>
                        <a:t>cat-facts.txt</a:t>
                      </a:r>
                      <a:endParaRPr lang="hr-H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>
                          <a:latin typeface="Courier New" panose="02070309020205020404" pitchFamily="49" charset="0"/>
                        </a:rPr>
                        <a:t>scopus_abstracts.csv</a:t>
                      </a:r>
                      <a:endParaRPr lang="hr-H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751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>
                          <a:latin typeface="Courier New" panose="02070309020205020404" pitchFamily="49" charset="0"/>
                        </a:rPr>
                        <a:t>readlines()</a:t>
                      </a:r>
                      <a:endParaRPr lang="hr-H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iterate over CSV 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439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1 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1 abstract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527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line = chunk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abstract = document = chunk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715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/>
                        <a:t>embed(line)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dirty="0" err="1"/>
                        <a:t>embed</a:t>
                      </a:r>
                      <a:r>
                        <a:rPr lang="hr-HR" dirty="0"/>
                        <a:t>(</a:t>
                      </a:r>
                      <a:r>
                        <a:rPr lang="hr-HR" dirty="0" err="1"/>
                        <a:t>abstract_text</a:t>
                      </a:r>
                      <a:r>
                        <a:rPr lang="hr-H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34592"/>
                  </a:ext>
                </a:extLst>
              </a:tr>
            </a:tbl>
          </a:graphicData>
        </a:graphic>
      </p:graphicFrame>
      <p:sp>
        <p:nvSpPr>
          <p:cNvPr id="33" name="TekstniOkvir 32">
            <a:extLst>
              <a:ext uri="{FF2B5EF4-FFF2-40B4-BE49-F238E27FC236}">
                <a16:creationId xmlns:a16="http://schemas.microsoft.com/office/drawing/2014/main" id="{693EE129-CF30-FB9D-B0D2-32D88DAAF4A2}"/>
              </a:ext>
            </a:extLst>
          </p:cNvPr>
          <p:cNvSpPr txBox="1"/>
          <p:nvPr/>
        </p:nvSpPr>
        <p:spPr>
          <a:xfrm>
            <a:off x="8842248" y="566678"/>
            <a:ext cx="30327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the </a:t>
            </a:r>
            <a:r>
              <a:rPr lang="en-US" b="1" dirty="0"/>
              <a:t>structural equivalent</a:t>
            </a:r>
            <a:r>
              <a:rPr lang="en-US" dirty="0"/>
              <a:t> of this:</a:t>
            </a:r>
          </a:p>
          <a:p>
            <a:r>
              <a:rPr lang="en-US" dirty="0"/>
              <a:t>dataset = </a:t>
            </a:r>
            <a:r>
              <a:rPr lang="en-US" dirty="0" err="1"/>
              <a:t>f.readlines</a:t>
            </a:r>
            <a:r>
              <a:rPr lang="en-US" dirty="0"/>
              <a:t>()</a:t>
            </a:r>
          </a:p>
          <a:p>
            <a:r>
              <a:rPr lang="en-US" dirty="0"/>
              <a:t>for your case is conceptually:</a:t>
            </a:r>
          </a:p>
          <a:p>
            <a:r>
              <a:rPr lang="en-US" dirty="0"/>
              <a:t>dataset = [row["Abstract"] for row in csv]</a:t>
            </a:r>
          </a:p>
          <a:p>
            <a:r>
              <a:rPr lang="en-US" dirty="0"/>
              <a:t>(each element = full abstract text, not a line)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174063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0497B87-580A-8E15-4D37-7D2AD118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Q1	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FB17BF0-A7B6-B3E3-6E55-8247B3BA5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"How is resilience conceptualized in the supply chain literature, and what core dimensions recur across studies?"</a:t>
            </a:r>
          </a:p>
          <a:p>
            <a:pPr marL="0" indent="0">
              <a:buNone/>
            </a:pPr>
            <a:r>
              <a:rPr lang="en-US" dirty="0"/>
              <a:t>=== ANSWER ===</a:t>
            </a:r>
          </a:p>
          <a:p>
            <a:pPr marL="0" indent="0">
              <a:buNone/>
            </a:pPr>
            <a:r>
              <a:rPr lang="en-US" dirty="0"/>
              <a:t>The concept of resilience in the supply chain literature can be understood as the ability of a supply chain to withstand disruptions and recover quickly. This is often achieved through factors such as technology adoption, collaboration, continuous improvement, and capacity building.</a:t>
            </a:r>
          </a:p>
          <a:p>
            <a:pPr marL="0" indent="0">
              <a:buNone/>
            </a:pPr>
            <a:r>
              <a:rPr lang="en-US" dirty="0"/>
              <a:t>Across studies, core dimensions that recur include:</a:t>
            </a:r>
          </a:p>
          <a:p>
            <a:pPr marL="0" indent="0">
              <a:buNone/>
            </a:pPr>
            <a:r>
              <a:rPr lang="en-US" dirty="0"/>
              <a:t>1. Technological capabilities (e.g., adoption of new technologies)</a:t>
            </a:r>
            <a:endParaRPr lang="hr-HR" dirty="0"/>
          </a:p>
          <a:p>
            <a:pPr marL="0" indent="0">
              <a:buNone/>
            </a:pPr>
            <a:r>
              <a:rPr lang="en-US" dirty="0"/>
              <a:t>2. Collaboration and coordination among partners</a:t>
            </a:r>
          </a:p>
          <a:p>
            <a:pPr marL="0" indent="0">
              <a:buNone/>
            </a:pPr>
            <a:r>
              <a:rPr lang="en-US" dirty="0"/>
              <a:t>3. Flexibility and adaptability in responding to changing market conditions</a:t>
            </a:r>
          </a:p>
          <a:p>
            <a:pPr marL="0" indent="0">
              <a:buNone/>
            </a:pPr>
            <a:r>
              <a:rPr lang="en-US" dirty="0"/>
              <a:t>However, not all supply chains are able to demonstrate resilience across all levels, from organizational to industry-wide. The challenges facing firms in developing countries, such as smaller-scale, chronic threats of disruption, highlight the importance of considering local context when assessing supply chain resilience.</a:t>
            </a:r>
          </a:p>
          <a:p>
            <a:pPr marL="0" indent="0">
              <a:buNone/>
            </a:pPr>
            <a:r>
              <a:rPr lang="en-US" dirty="0"/>
              <a:t>In contrast, firms operating in a global financial crisis context may face more complex and nuanced challenges that require a distinct approach for conceptualizing and measuring supply chain resilience.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017372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605A6-BDD9-9CCC-1C40-334DD7E8B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7C055A0-20E1-55C7-3016-DE60009F9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Q2	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C6939EA-5AEF-B9AB-82C8-D02AE9D2D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What categories of supply chain risk are most frequently discussed, and how are they commonly structured or classified?„</a:t>
            </a:r>
            <a:endParaRPr lang="hr-HR" dirty="0"/>
          </a:p>
          <a:p>
            <a:pPr marL="0" indent="0">
              <a:buNone/>
            </a:pPr>
            <a:r>
              <a:rPr lang="en-US" dirty="0"/>
              <a:t>The most frequently discussed categories of supply chain risk are operational and disruptive risks. These risks can be categorized into: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Supply chain disruptions (SCDs) which impact overall supply chain performance.</a:t>
            </a:r>
          </a:p>
          <a:p>
            <a:pPr marL="0" indent="0">
              <a:buNone/>
            </a:pPr>
            <a:r>
              <a:rPr lang="en-US" dirty="0"/>
              <a:t>2. Turbulence, threats, and connectivity which pose risks to the stability and continuity of the supply chain.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Supply chain disruptions are further sub-categorized as: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 Disruptive risks (e.g., epidemics, natural disasters)</a:t>
            </a:r>
          </a:p>
          <a:p>
            <a:pPr marL="0" indent="0">
              <a:buNone/>
            </a:pPr>
            <a:r>
              <a:rPr lang="en-US" dirty="0"/>
              <a:t>* External pressure risks (e.g., policy changes, economic shocks)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Operational risks also include: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 Resource boundaries</a:t>
            </a:r>
          </a:p>
          <a:p>
            <a:pPr marL="0" indent="0">
              <a:buNone/>
            </a:pPr>
            <a:r>
              <a:rPr lang="en-US" dirty="0"/>
              <a:t>* Supplier or customer distractions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categories can be classified into seven main risk types proposed by Petit et al. (2019):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Turbulence</a:t>
            </a:r>
          </a:p>
          <a:p>
            <a:pPr marL="0" indent="0">
              <a:buNone/>
            </a:pPr>
            <a:r>
              <a:rPr lang="en-US" dirty="0"/>
              <a:t>2. Threats</a:t>
            </a:r>
          </a:p>
          <a:p>
            <a:pPr marL="0" indent="0">
              <a:buNone/>
            </a:pPr>
            <a:r>
              <a:rPr lang="en-US" dirty="0"/>
              <a:t>3. Connectivity</a:t>
            </a:r>
          </a:p>
          <a:p>
            <a:pPr marL="0" indent="0">
              <a:buNone/>
            </a:pPr>
            <a:r>
              <a:rPr lang="en-US" dirty="0"/>
              <a:t>4. Outside pressures</a:t>
            </a:r>
          </a:p>
          <a:p>
            <a:pPr marL="0" indent="0">
              <a:buNone/>
            </a:pPr>
            <a:r>
              <a:rPr lang="en-US" dirty="0"/>
              <a:t>5. Resource boundaries</a:t>
            </a:r>
          </a:p>
          <a:p>
            <a:pPr marL="0" indent="0">
              <a:buNone/>
            </a:pPr>
            <a:r>
              <a:rPr lang="en-US" dirty="0"/>
              <a:t>6. Sensitivity and supplier or customer distractions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Additionally, S.M. Tabatabaei Journal of Industrial Information Integration 47 (2025) provides an in-depth analysis of the risk types categorized into seven distinct groups by logistics providers: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Environmental risks</a:t>
            </a:r>
          </a:p>
          <a:p>
            <a:pPr marL="0" indent="0">
              <a:buNone/>
            </a:pPr>
            <a:r>
              <a:rPr lang="en-US" dirty="0"/>
              <a:t>2. Policy risks</a:t>
            </a:r>
          </a:p>
          <a:p>
            <a:pPr marL="0" indent="0">
              <a:buNone/>
            </a:pPr>
            <a:r>
              <a:rPr lang="en-US" dirty="0"/>
              <a:t>3. Operational risks</a:t>
            </a:r>
          </a:p>
          <a:p>
            <a:pPr marL="0" indent="0">
              <a:buNone/>
            </a:pPr>
            <a:r>
              <a:rPr lang="en-US" dirty="0"/>
              <a:t>4. Supply chain operations</a:t>
            </a:r>
          </a:p>
          <a:p>
            <a:pPr marL="0" indent="0">
              <a:buNone/>
            </a:pPr>
            <a:r>
              <a:rPr lang="en-US" dirty="0"/>
              <a:t>5. Supplier diversification</a:t>
            </a:r>
          </a:p>
          <a:p>
            <a:pPr marL="0" indent="0">
              <a:buNone/>
            </a:pPr>
            <a:r>
              <a:rPr lang="en-US" dirty="0"/>
              <a:t>6. Stakeholder engagement</a:t>
            </a:r>
          </a:p>
          <a:p>
            <a:pPr marL="0" indent="0">
              <a:buNone/>
            </a:pPr>
            <a:r>
              <a:rPr lang="en-US" dirty="0"/>
              <a:t>7. Business continuity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role of digital platforms in e-commerce and food supply chains is also discussed, particularly in the context of resilience under exogenous disruptions (Ivanov et al., 2016).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34126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8B241-0B68-F4E5-D360-506640708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9945A4E-80CF-7693-2EB1-565AA20BB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Q3	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5FAB1E4-656E-890B-7C45-EB0094EC0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How are network concepts used to explain disruption propagation and vulnerability in supply chains?</a:t>
            </a:r>
            <a:endParaRPr lang="hr-HR" dirty="0"/>
          </a:p>
          <a:p>
            <a:endParaRPr lang="hr-HR" dirty="0"/>
          </a:p>
          <a:p>
            <a:pPr marL="0" indent="0">
              <a:buNone/>
            </a:pPr>
            <a:r>
              <a:rPr lang="en-US" dirty="0"/>
              <a:t>=== ANSWER ===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Network concepts are used to explain disruption propagation and vulnerability in supply chains by: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Modeling complex causal relationships using Bayesian networks</a:t>
            </a:r>
          </a:p>
          <a:p>
            <a:pPr marL="0" indent="0">
              <a:buNone/>
            </a:pPr>
            <a:r>
              <a:rPr lang="en-US" dirty="0"/>
              <a:t>2. Reducing disruption propagation probability by over 10% compared to linear structures, with raw material suppliers being most vulnerable</a:t>
            </a:r>
          </a:p>
          <a:p>
            <a:pPr marL="0" indent="0">
              <a:buNone/>
            </a:pPr>
            <a:r>
              <a:rPr lang="en-US" dirty="0"/>
              <a:t>3. Analyzing disruption propagation across interdependent tiers in a complex adaptive system framework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methods offer a reality-based analytical approach for evaluating supply chain risks and resilience in various industries, such as shipbuilding, aerospace, automobile manufacturing, and industry 4.0.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27955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8FBE3-0F70-E0E2-C770-ABB2CDCF5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B5C828D-BB83-6B97-ED1D-3AB15991D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Q4	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268FAF6F-049C-A57F-DB3B-BCCC10427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What types of data are used to study supply chain risk and resilience, and how are they typically operationalized?</a:t>
            </a:r>
            <a:endParaRPr lang="hr-HR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=== ANSWER ===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types of data used to study supply chain risk and resilience include: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 Metrics such as on-time delivery, cost efficiency, and variability across carriers and regions.</a:t>
            </a:r>
          </a:p>
          <a:p>
            <a:pPr marL="0" indent="0">
              <a:buNone/>
            </a:pPr>
            <a:r>
              <a:rPr lang="en-US" dirty="0"/>
              <a:t>* Performance metrics related to logistics operations, such as transportation capacity utilization and carrier reliability.</a:t>
            </a:r>
          </a:p>
          <a:p>
            <a:pPr marL="0" indent="0">
              <a:buNone/>
            </a:pPr>
            <a:r>
              <a:rPr lang="en-US" dirty="0"/>
              <a:t>* Data analytics tools and techniques, including machine learning and statistical models.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data are typically operationalized through the use of: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 Statistical analysis and regression modeling</a:t>
            </a:r>
          </a:p>
          <a:p>
            <a:pPr marL="0" indent="0">
              <a:buNone/>
            </a:pPr>
            <a:r>
              <a:rPr lang="en-US" dirty="0"/>
              <a:t>* Machine learning algorithms, such as decision trees and clustering</a:t>
            </a:r>
          </a:p>
          <a:p>
            <a:pPr marL="0" indent="0">
              <a:buNone/>
            </a:pPr>
            <a:r>
              <a:rPr lang="en-US" dirty="0"/>
              <a:t>* Graph-based visualizations and network analysis</a:t>
            </a:r>
          </a:p>
          <a:p>
            <a:pPr marL="0" indent="0">
              <a:buNone/>
            </a:pPr>
            <a:r>
              <a:rPr lang="en-US" dirty="0"/>
              <a:t>* Benchmarking and comparison against industry standards or peers.</a:t>
            </a:r>
          </a:p>
        </p:txBody>
      </p:sp>
    </p:spTree>
    <p:extLst>
      <p:ext uri="{BB962C8B-B14F-4D97-AF65-F5344CB8AC3E}">
        <p14:creationId xmlns:p14="http://schemas.microsoft.com/office/powerpoint/2010/main" val="1245132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6ECCA-C23C-E507-B667-9CBBC3D59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60F2BA8-E2FB-2E14-AF8E-E3752346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Q5	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7CEF8EC-11D6-0623-19E5-669D49B48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How do studies integrate risk, network structure, and data in analytical approaches to improve supply chain resilience?</a:t>
            </a:r>
            <a:endParaRPr lang="hr-HR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=== ANSWER ===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question can be answered by integrating risk, network structure, and data into analytical approaches to improve supply chain resilience.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Studies aim to design resilient supply networks by: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 Analyzing the relationship between different entities within the supply chain</a:t>
            </a:r>
          </a:p>
          <a:p>
            <a:pPr marL="0" indent="0">
              <a:buNone/>
            </a:pPr>
            <a:r>
              <a:rPr lang="en-US" dirty="0"/>
              <a:t>* Identifying potential risks and vulnerabilities in the network</a:t>
            </a:r>
          </a:p>
          <a:p>
            <a:pPr marL="0" indent="0">
              <a:buNone/>
            </a:pPr>
            <a:r>
              <a:rPr lang="en-US" dirty="0"/>
              <a:t>* Developing strategies to mitigate these risks and enhance network robustness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machine learning approach can help analyze supply chain structure and behavior, predicting missing links and providing interpretable knowledge about how different entities are interrelated.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Quantifying supply chain resilience requires a comprehensive understanding of the network's </a:t>
            </a:r>
            <a:r>
              <a:rPr lang="en-US" dirty="0" err="1"/>
              <a:t>nestedness</a:t>
            </a:r>
            <a:r>
              <a:rPr lang="en-US" dirty="0"/>
              <a:t>, with findings suggesting that nested structures increase vulnerability but also enhance resilience simultaneously.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Furthermore, analyzing data from disruptions and natural disasters can inform the design of efficient resilient supply networks.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8702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3476</TotalTime>
  <Words>1924</Words>
  <Application>Microsoft Office PowerPoint</Application>
  <PresentationFormat>Široki zaslon</PresentationFormat>
  <Paragraphs>206</Paragraphs>
  <Slides>17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Tema sustava Office</vt:lpstr>
      <vt:lpstr>RAG</vt:lpstr>
      <vt:lpstr>Research Question</vt:lpstr>
      <vt:lpstr>Systematic search + download (yt video)</vt:lpstr>
      <vt:lpstr>Systematic search + download (yt video)</vt:lpstr>
      <vt:lpstr>Systematic search (cont.)</vt:lpstr>
      <vt:lpstr>Comment:</vt:lpstr>
      <vt:lpstr>Comment:</vt:lpstr>
      <vt:lpstr>PowerPoint prezentacija</vt:lpstr>
      <vt:lpstr>PowerPoint prezentacija</vt:lpstr>
      <vt:lpstr>Making the code and running it</vt:lpstr>
      <vt:lpstr>Conclusions</vt:lpstr>
      <vt:lpstr>Abstracts in the same file </vt:lpstr>
      <vt:lpstr>Q1 </vt:lpstr>
      <vt:lpstr>Q2 </vt:lpstr>
      <vt:lpstr>Q3 </vt:lpstr>
      <vt:lpstr>Q4 </vt:lpstr>
      <vt:lpstr>Q5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Tomo Hunjak</dc:creator>
  <cp:lastModifiedBy>Tomo Hunjak</cp:lastModifiedBy>
  <cp:revision>5</cp:revision>
  <dcterms:created xsi:type="dcterms:W3CDTF">2026-01-06T05:54:06Z</dcterms:created>
  <dcterms:modified xsi:type="dcterms:W3CDTF">2026-01-14T14:01:07Z</dcterms:modified>
</cp:coreProperties>
</file>